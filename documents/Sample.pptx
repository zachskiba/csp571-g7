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4673" r:id="rId2"/>
    <p:sldId id="4675" r:id="rId3"/>
    <p:sldId id="4676" r:id="rId4"/>
    <p:sldId id="4680" r:id="rId5"/>
    <p:sldId id="4681" r:id="rId6"/>
    <p:sldId id="4678" r:id="rId7"/>
    <p:sldId id="4683" r:id="rId8"/>
    <p:sldId id="4685" r:id="rId9"/>
    <p:sldId id="4677" r:id="rId10"/>
    <p:sldId id="4686" r:id="rId11"/>
    <p:sldId id="4687" r:id="rId12"/>
    <p:sldId id="4697" r:id="rId13"/>
    <p:sldId id="4698" r:id="rId14"/>
    <p:sldId id="4699" r:id="rId15"/>
    <p:sldId id="4691" r:id="rId16"/>
    <p:sldId id="4692" r:id="rId17"/>
    <p:sldId id="4696" r:id="rId18"/>
    <p:sldId id="4695" r:id="rId19"/>
    <p:sldId id="4700" r:id="rId20"/>
    <p:sldId id="470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0EE8A4-B9F2-85C1-A443-79765FF34570}" v="5" dt="2025-03-15T16:47:13.716"/>
    <p1510:client id="{98DC4F5F-4979-D411-FD70-BE0FEA69EE90}" v="1545" dt="2025-03-15T23:19:08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emmad Asif Azhar" userId="S::mazhar2@hawk.iit.edu::71ef3cb6-9ea7-43ee-bdf9-c068a689d2f6" providerId="AD" clId="Web-{98DC4F5F-4979-D411-FD70-BE0FEA69EE90}"/>
    <pc:docChg chg="addSld delSld modSld">
      <pc:chgData name="Mohemmad Asif Azhar" userId="S::mazhar2@hawk.iit.edu::71ef3cb6-9ea7-43ee-bdf9-c068a689d2f6" providerId="AD" clId="Web-{98DC4F5F-4979-D411-FD70-BE0FEA69EE90}" dt="2025-03-15T23:19:08.869" v="1568"/>
      <pc:docMkLst>
        <pc:docMk/>
      </pc:docMkLst>
      <pc:sldChg chg="modSp">
        <pc:chgData name="Mohemmad Asif Azhar" userId="S::mazhar2@hawk.iit.edu::71ef3cb6-9ea7-43ee-bdf9-c068a689d2f6" providerId="AD" clId="Web-{98DC4F5F-4979-D411-FD70-BE0FEA69EE90}" dt="2025-03-15T21:59:13.430" v="609"/>
        <pc:sldMkLst>
          <pc:docMk/>
          <pc:sldMk cId="2256319116" sldId="4687"/>
        </pc:sldMkLst>
        <pc:spChg chg="mod">
          <ac:chgData name="Mohemmad Asif Azhar" userId="S::mazhar2@hawk.iit.edu::71ef3cb6-9ea7-43ee-bdf9-c068a689d2f6" providerId="AD" clId="Web-{98DC4F5F-4979-D411-FD70-BE0FEA69EE90}" dt="2025-03-15T21:59:13.430" v="609"/>
          <ac:spMkLst>
            <pc:docMk/>
            <pc:sldMk cId="2256319116" sldId="4687"/>
            <ac:spMk id="3" creationId="{A5E3AA0A-C4B9-E5D4-7B40-5C94F5686F78}"/>
          </ac:spMkLst>
        </pc:spChg>
      </pc:sldChg>
      <pc:sldChg chg="modSp">
        <pc:chgData name="Mohemmad Asif Azhar" userId="S::mazhar2@hawk.iit.edu::71ef3cb6-9ea7-43ee-bdf9-c068a689d2f6" providerId="AD" clId="Web-{98DC4F5F-4979-D411-FD70-BE0FEA69EE90}" dt="2025-03-15T22:23:55.650" v="1006" actId="20577"/>
        <pc:sldMkLst>
          <pc:docMk/>
          <pc:sldMk cId="811391140" sldId="4691"/>
        </pc:sldMkLst>
        <pc:spChg chg="mod">
          <ac:chgData name="Mohemmad Asif Azhar" userId="S::mazhar2@hawk.iit.edu::71ef3cb6-9ea7-43ee-bdf9-c068a689d2f6" providerId="AD" clId="Web-{98DC4F5F-4979-D411-FD70-BE0FEA69EE90}" dt="2025-03-15T22:23:55.650" v="1006" actId="20577"/>
          <ac:spMkLst>
            <pc:docMk/>
            <pc:sldMk cId="811391140" sldId="4691"/>
            <ac:spMk id="4" creationId="{6918F2D9-B010-7532-B7AA-B79450EA65EB}"/>
          </ac:spMkLst>
        </pc:spChg>
      </pc:sldChg>
      <pc:sldChg chg="modSp">
        <pc:chgData name="Mohemmad Asif Azhar" userId="S::mazhar2@hawk.iit.edu::71ef3cb6-9ea7-43ee-bdf9-c068a689d2f6" providerId="AD" clId="Web-{98DC4F5F-4979-D411-FD70-BE0FEA69EE90}" dt="2025-03-15T22:23:51.041" v="1005" actId="20577"/>
        <pc:sldMkLst>
          <pc:docMk/>
          <pc:sldMk cId="1262337004" sldId="4692"/>
        </pc:sldMkLst>
        <pc:spChg chg="mod">
          <ac:chgData name="Mohemmad Asif Azhar" userId="S::mazhar2@hawk.iit.edu::71ef3cb6-9ea7-43ee-bdf9-c068a689d2f6" providerId="AD" clId="Web-{98DC4F5F-4979-D411-FD70-BE0FEA69EE90}" dt="2025-03-15T22:23:51.041" v="1005" actId="20577"/>
          <ac:spMkLst>
            <pc:docMk/>
            <pc:sldMk cId="1262337004" sldId="4692"/>
            <ac:spMk id="4" creationId="{61C1DE24-AA67-AE30-ACD7-428F2E4EBFFD}"/>
          </ac:spMkLst>
        </pc:spChg>
      </pc:sldChg>
      <pc:sldChg chg="del">
        <pc:chgData name="Mohemmad Asif Azhar" userId="S::mazhar2@hawk.iit.edu::71ef3cb6-9ea7-43ee-bdf9-c068a689d2f6" providerId="AD" clId="Web-{98DC4F5F-4979-D411-FD70-BE0FEA69EE90}" dt="2025-03-14T16:13:56.477" v="0"/>
        <pc:sldMkLst>
          <pc:docMk/>
          <pc:sldMk cId="1503121227" sldId="4694"/>
        </pc:sldMkLst>
      </pc:sldChg>
      <pc:sldChg chg="modSp">
        <pc:chgData name="Mohemmad Asif Azhar" userId="S::mazhar2@hawk.iit.edu::71ef3cb6-9ea7-43ee-bdf9-c068a689d2f6" providerId="AD" clId="Web-{98DC4F5F-4979-D411-FD70-BE0FEA69EE90}" dt="2025-03-15T23:12:31.026" v="1361" actId="20577"/>
        <pc:sldMkLst>
          <pc:docMk/>
          <pc:sldMk cId="1170297730" sldId="4695"/>
        </pc:sldMkLst>
        <pc:spChg chg="mod">
          <ac:chgData name="Mohemmad Asif Azhar" userId="S::mazhar2@hawk.iit.edu::71ef3cb6-9ea7-43ee-bdf9-c068a689d2f6" providerId="AD" clId="Web-{98DC4F5F-4979-D411-FD70-BE0FEA69EE90}" dt="2025-03-15T23:12:31.026" v="1361" actId="20577"/>
          <ac:spMkLst>
            <pc:docMk/>
            <pc:sldMk cId="1170297730" sldId="4695"/>
            <ac:spMk id="3" creationId="{7A5A1A64-1134-79CF-16DE-BF74F1EBC1A1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2:36:34.107" v="1055" actId="20577"/>
          <ac:spMkLst>
            <pc:docMk/>
            <pc:sldMk cId="1170297730" sldId="4695"/>
            <ac:spMk id="4" creationId="{BB683BC3-0F97-C853-4889-D4E6FD6C1CF0}"/>
          </ac:spMkLst>
        </pc:spChg>
      </pc:sldChg>
      <pc:sldChg chg="addSp delSp modSp">
        <pc:chgData name="Mohemmad Asif Azhar" userId="S::mazhar2@hawk.iit.edu::71ef3cb6-9ea7-43ee-bdf9-c068a689d2f6" providerId="AD" clId="Web-{98DC4F5F-4979-D411-FD70-BE0FEA69EE90}" dt="2025-03-15T22:30:54.504" v="1012" actId="14100"/>
        <pc:sldMkLst>
          <pc:docMk/>
          <pc:sldMk cId="3697103648" sldId="4696"/>
        </pc:sldMkLst>
        <pc:spChg chg="mod">
          <ac:chgData name="Mohemmad Asif Azhar" userId="S::mazhar2@hawk.iit.edu::71ef3cb6-9ea7-43ee-bdf9-c068a689d2f6" providerId="AD" clId="Web-{98DC4F5F-4979-D411-FD70-BE0FEA69EE90}" dt="2025-03-15T22:23:47.556" v="1004" actId="20577"/>
          <ac:spMkLst>
            <pc:docMk/>
            <pc:sldMk cId="3697103648" sldId="4696"/>
            <ac:spMk id="4" creationId="{9C15DDB1-7E44-D458-8AEB-3BA6C115AB4B}"/>
          </ac:spMkLst>
        </pc:spChg>
        <pc:picChg chg="add mod">
          <ac:chgData name="Mohemmad Asif Azhar" userId="S::mazhar2@hawk.iit.edu::71ef3cb6-9ea7-43ee-bdf9-c068a689d2f6" providerId="AD" clId="Web-{98DC4F5F-4979-D411-FD70-BE0FEA69EE90}" dt="2025-03-15T22:30:54.504" v="1012" actId="14100"/>
          <ac:picMkLst>
            <pc:docMk/>
            <pc:sldMk cId="3697103648" sldId="4696"/>
            <ac:picMk id="3" creationId="{640CD5E4-73A7-982F-D816-90F61F1FF8A3}"/>
          </ac:picMkLst>
        </pc:picChg>
        <pc:picChg chg="del">
          <ac:chgData name="Mohemmad Asif Azhar" userId="S::mazhar2@hawk.iit.edu::71ef3cb6-9ea7-43ee-bdf9-c068a689d2f6" providerId="AD" clId="Web-{98DC4F5F-4979-D411-FD70-BE0FEA69EE90}" dt="2025-03-15T22:30:40.753" v="1007"/>
          <ac:picMkLst>
            <pc:docMk/>
            <pc:sldMk cId="3697103648" sldId="4696"/>
            <ac:picMk id="14" creationId="{73FB9731-23A2-47AC-8449-457AF2730E4D}"/>
          </ac:picMkLst>
        </pc:picChg>
      </pc:sldChg>
      <pc:sldChg chg="modSp new">
        <pc:chgData name="Mohemmad Asif Azhar" userId="S::mazhar2@hawk.iit.edu::71ef3cb6-9ea7-43ee-bdf9-c068a689d2f6" providerId="AD" clId="Web-{98DC4F5F-4979-D411-FD70-BE0FEA69EE90}" dt="2025-03-15T22:05:20.187" v="685" actId="20577"/>
        <pc:sldMkLst>
          <pc:docMk/>
          <pc:sldMk cId="2101471388" sldId="4697"/>
        </pc:sldMkLst>
        <pc:spChg chg="mod">
          <ac:chgData name="Mohemmad Asif Azhar" userId="S::mazhar2@hawk.iit.edu::71ef3cb6-9ea7-43ee-bdf9-c068a689d2f6" providerId="AD" clId="Web-{98DC4F5F-4979-D411-FD70-BE0FEA69EE90}" dt="2025-03-15T17:55:24.918" v="3" actId="20577"/>
          <ac:spMkLst>
            <pc:docMk/>
            <pc:sldMk cId="2101471388" sldId="4697"/>
            <ac:spMk id="2" creationId="{C925789C-E56D-6C12-8A26-79C9025D8A06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2:05:20.187" v="685" actId="20577"/>
          <ac:spMkLst>
            <pc:docMk/>
            <pc:sldMk cId="2101471388" sldId="4697"/>
            <ac:spMk id="3" creationId="{0C0B9061-A847-72EF-6E63-92D74F8357E7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1:42:33.780" v="540" actId="20577"/>
          <ac:spMkLst>
            <pc:docMk/>
            <pc:sldMk cId="2101471388" sldId="4697"/>
            <ac:spMk id="4" creationId="{588D71DD-9347-A9D5-0249-32BA33F8B54B}"/>
          </ac:spMkLst>
        </pc:spChg>
      </pc:sldChg>
      <pc:sldChg chg="modSp new">
        <pc:chgData name="Mohemmad Asif Azhar" userId="S::mazhar2@hawk.iit.edu::71ef3cb6-9ea7-43ee-bdf9-c068a689d2f6" providerId="AD" clId="Web-{98DC4F5F-4979-D411-FD70-BE0FEA69EE90}" dt="2025-03-15T22:21:47.997" v="981" actId="20577"/>
        <pc:sldMkLst>
          <pc:docMk/>
          <pc:sldMk cId="2231341698" sldId="4698"/>
        </pc:sldMkLst>
        <pc:spChg chg="mod">
          <ac:chgData name="Mohemmad Asif Azhar" userId="S::mazhar2@hawk.iit.edu::71ef3cb6-9ea7-43ee-bdf9-c068a689d2f6" providerId="AD" clId="Web-{98DC4F5F-4979-D411-FD70-BE0FEA69EE90}" dt="2025-03-15T22:05:42.876" v="686" actId="20577"/>
          <ac:spMkLst>
            <pc:docMk/>
            <pc:sldMk cId="2231341698" sldId="4698"/>
            <ac:spMk id="2" creationId="{9A40538A-2BB9-9E01-8459-3C5C7D1F3B24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2:21:47.997" v="981" actId="20577"/>
          <ac:spMkLst>
            <pc:docMk/>
            <pc:sldMk cId="2231341698" sldId="4698"/>
            <ac:spMk id="3" creationId="{738370F2-DB80-5364-5244-4388AE8D8ADA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2:05:51.485" v="687" actId="20577"/>
          <ac:spMkLst>
            <pc:docMk/>
            <pc:sldMk cId="2231341698" sldId="4698"/>
            <ac:spMk id="4" creationId="{3599981F-19DF-28E0-C0D2-4F907A05168A}"/>
          </ac:spMkLst>
        </pc:spChg>
      </pc:sldChg>
      <pc:sldChg chg="modSp new">
        <pc:chgData name="Mohemmad Asif Azhar" userId="S::mazhar2@hawk.iit.edu::71ef3cb6-9ea7-43ee-bdf9-c068a689d2f6" providerId="AD" clId="Web-{98DC4F5F-4979-D411-FD70-BE0FEA69EE90}" dt="2025-03-15T22:18:27.016" v="884" actId="20577"/>
        <pc:sldMkLst>
          <pc:docMk/>
          <pc:sldMk cId="4080185270" sldId="4699"/>
        </pc:sldMkLst>
        <pc:spChg chg="mod">
          <ac:chgData name="Mohemmad Asif Azhar" userId="S::mazhar2@hawk.iit.edu::71ef3cb6-9ea7-43ee-bdf9-c068a689d2f6" providerId="AD" clId="Web-{98DC4F5F-4979-D411-FD70-BE0FEA69EE90}" dt="2025-03-15T22:18:27.016" v="884" actId="20577"/>
          <ac:spMkLst>
            <pc:docMk/>
            <pc:sldMk cId="4080185270" sldId="4699"/>
            <ac:spMk id="2" creationId="{DCB71CAB-08BF-B312-8735-92E7F41A84E8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2:18:00.327" v="882" actId="20577"/>
          <ac:spMkLst>
            <pc:docMk/>
            <pc:sldMk cId="4080185270" sldId="4699"/>
            <ac:spMk id="3" creationId="{0A6E96EC-B0CF-A289-DD6F-7A35E2BED2A7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2:18:17.359" v="883" actId="20577"/>
          <ac:spMkLst>
            <pc:docMk/>
            <pc:sldMk cId="4080185270" sldId="4699"/>
            <ac:spMk id="4" creationId="{9BB4CFA6-8AC1-343C-8F30-D007D2F7AEFA}"/>
          </ac:spMkLst>
        </pc:spChg>
      </pc:sldChg>
      <pc:sldChg chg="modSp new">
        <pc:chgData name="Mohemmad Asif Azhar" userId="S::mazhar2@hawk.iit.edu::71ef3cb6-9ea7-43ee-bdf9-c068a689d2f6" providerId="AD" clId="Web-{98DC4F5F-4979-D411-FD70-BE0FEA69EE90}" dt="2025-03-15T23:16:30.031" v="1520" actId="20577"/>
        <pc:sldMkLst>
          <pc:docMk/>
          <pc:sldMk cId="658802010" sldId="4700"/>
        </pc:sldMkLst>
        <pc:spChg chg="mod">
          <ac:chgData name="Mohemmad Asif Azhar" userId="S::mazhar2@hawk.iit.edu::71ef3cb6-9ea7-43ee-bdf9-c068a689d2f6" providerId="AD" clId="Web-{98DC4F5F-4979-D411-FD70-BE0FEA69EE90}" dt="2025-03-15T23:13:07.044" v="1364" actId="20577"/>
          <ac:spMkLst>
            <pc:docMk/>
            <pc:sldMk cId="658802010" sldId="4700"/>
            <ac:spMk id="2" creationId="{F1AA737F-3498-8E71-E46E-6F266D93A5BD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3:16:30.031" v="1520" actId="20577"/>
          <ac:spMkLst>
            <pc:docMk/>
            <pc:sldMk cId="658802010" sldId="4700"/>
            <ac:spMk id="3" creationId="{F8B12990-F0D7-526F-6BFF-F93D58EB12B4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3:13:14.169" v="1365" actId="20577"/>
          <ac:spMkLst>
            <pc:docMk/>
            <pc:sldMk cId="658802010" sldId="4700"/>
            <ac:spMk id="4" creationId="{1DF17FBB-F4D7-C1AE-F607-F0A117D2D927}"/>
          </ac:spMkLst>
        </pc:spChg>
      </pc:sldChg>
      <pc:sldChg chg="modSp new">
        <pc:chgData name="Mohemmad Asif Azhar" userId="S::mazhar2@hawk.iit.edu::71ef3cb6-9ea7-43ee-bdf9-c068a689d2f6" providerId="AD" clId="Web-{98DC4F5F-4979-D411-FD70-BE0FEA69EE90}" dt="2025-03-15T23:19:08.869" v="1568"/>
        <pc:sldMkLst>
          <pc:docMk/>
          <pc:sldMk cId="404948661" sldId="4701"/>
        </pc:sldMkLst>
        <pc:spChg chg="mod">
          <ac:chgData name="Mohemmad Asif Azhar" userId="S::mazhar2@hawk.iit.edu::71ef3cb6-9ea7-43ee-bdf9-c068a689d2f6" providerId="AD" clId="Web-{98DC4F5F-4979-D411-FD70-BE0FEA69EE90}" dt="2025-03-15T23:18:46.774" v="1566" actId="20577"/>
          <ac:spMkLst>
            <pc:docMk/>
            <pc:sldMk cId="404948661" sldId="4701"/>
            <ac:spMk id="3" creationId="{96CCE84F-1456-1A7F-525C-36AE6E1DD801}"/>
          </ac:spMkLst>
        </pc:spChg>
        <pc:spChg chg="mod">
          <ac:chgData name="Mohemmad Asif Azhar" userId="S::mazhar2@hawk.iit.edu::71ef3cb6-9ea7-43ee-bdf9-c068a689d2f6" providerId="AD" clId="Web-{98DC4F5F-4979-D411-FD70-BE0FEA69EE90}" dt="2025-03-15T23:19:08.869" v="1568"/>
          <ac:spMkLst>
            <pc:docMk/>
            <pc:sldMk cId="404948661" sldId="4701"/>
            <ac:spMk id="4" creationId="{1E0D7426-0968-A998-A09F-C8064812F56A}"/>
          </ac:spMkLst>
        </pc:spChg>
      </pc:sldChg>
    </pc:docChg>
  </pc:docChgLst>
  <pc:docChgLst>
    <pc:chgData name="Mohammed Aftaab Bin Usman" userId="S::maftaabbinusman@hawk.iit.edu::ad213070-49c7-4576-884c-71b00cca66d7" providerId="AD" clId="Web-{2B0EE8A4-B9F2-85C1-A443-79765FF34570}"/>
    <pc:docChg chg="modSld">
      <pc:chgData name="Mohammed Aftaab Bin Usman" userId="S::maftaabbinusman@hawk.iit.edu::ad213070-49c7-4576-884c-71b00cca66d7" providerId="AD" clId="Web-{2B0EE8A4-B9F2-85C1-A443-79765FF34570}" dt="2025-03-15T16:47:13.591" v="2" actId="20577"/>
      <pc:docMkLst>
        <pc:docMk/>
      </pc:docMkLst>
      <pc:sldChg chg="modSp">
        <pc:chgData name="Mohammed Aftaab Bin Usman" userId="S::maftaabbinusman@hawk.iit.edu::ad213070-49c7-4576-884c-71b00cca66d7" providerId="AD" clId="Web-{2B0EE8A4-B9F2-85C1-A443-79765FF34570}" dt="2025-03-15T16:47:13.591" v="2" actId="20577"/>
        <pc:sldMkLst>
          <pc:docMk/>
          <pc:sldMk cId="1578682805" sldId="4673"/>
        </pc:sldMkLst>
        <pc:spChg chg="mod">
          <ac:chgData name="Mohammed Aftaab Bin Usman" userId="S::maftaabbinusman@hawk.iit.edu::ad213070-49c7-4576-884c-71b00cca66d7" providerId="AD" clId="Web-{2B0EE8A4-B9F2-85C1-A443-79765FF34570}" dt="2025-03-15T16:47:13.591" v="2" actId="20577"/>
          <ac:spMkLst>
            <pc:docMk/>
            <pc:sldMk cId="1578682805" sldId="4673"/>
            <ac:spMk id="3" creationId="{110969CC-5C46-3531-34EB-5B71B52523E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DA4611-A3DE-45A8-9B4A-1DA8568C55D1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DE8B43-37A0-4FA5-AB91-CB854CA538A4}">
      <dgm:prSet/>
      <dgm:spPr/>
      <dgm:t>
        <a:bodyPr/>
        <a:lstStyle/>
        <a:p>
          <a:r>
            <a:rPr lang="en-US"/>
            <a:t>Remove data with empty values.</a:t>
          </a:r>
        </a:p>
      </dgm:t>
    </dgm:pt>
    <dgm:pt modelId="{EEB08BAD-8A84-4935-BD45-0F8DD0CBD784}" type="parTrans" cxnId="{9381BBC2-BC43-4A4D-AF47-D7FBE58BA326}">
      <dgm:prSet/>
      <dgm:spPr/>
      <dgm:t>
        <a:bodyPr/>
        <a:lstStyle/>
        <a:p>
          <a:endParaRPr lang="en-US"/>
        </a:p>
      </dgm:t>
    </dgm:pt>
    <dgm:pt modelId="{7A2C83C6-3A8B-495A-8F0E-80A0AE9A7F50}" type="sibTrans" cxnId="{9381BBC2-BC43-4A4D-AF47-D7FBE58BA326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B902E61B-1A45-47D2-B85E-FC951072B1A9}">
      <dgm:prSet/>
      <dgm:spPr/>
      <dgm:t>
        <a:bodyPr/>
        <a:lstStyle/>
        <a:p>
          <a:r>
            <a:rPr lang="en-US"/>
            <a:t>Convert City and Street to categorical values. </a:t>
          </a:r>
        </a:p>
      </dgm:t>
    </dgm:pt>
    <dgm:pt modelId="{6DD18F76-1984-4AF2-99A6-F2DA1592B99A}" type="parTrans" cxnId="{3E66042B-BFD6-4FA1-9C79-5E5594400E17}">
      <dgm:prSet/>
      <dgm:spPr/>
      <dgm:t>
        <a:bodyPr/>
        <a:lstStyle/>
        <a:p>
          <a:endParaRPr lang="en-US"/>
        </a:p>
      </dgm:t>
    </dgm:pt>
    <dgm:pt modelId="{F60A4206-2261-4C3C-8C0D-3C878548A02E}" type="sibTrans" cxnId="{3E66042B-BFD6-4FA1-9C79-5E5594400E1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9B1B99B-2020-401C-B038-96CFCAE2F96B}">
      <dgm:prSet/>
      <dgm:spPr/>
      <dgm:t>
        <a:bodyPr/>
        <a:lstStyle/>
        <a:p>
          <a:r>
            <a:rPr lang="en-US"/>
            <a:t>Normalize area and price.</a:t>
          </a:r>
        </a:p>
      </dgm:t>
    </dgm:pt>
    <dgm:pt modelId="{B8C82AD3-050E-4456-9B03-A5C0F2ADB5A6}" type="parTrans" cxnId="{8F85C419-7AC2-4CBF-9D3F-9E70CE54A2F4}">
      <dgm:prSet/>
      <dgm:spPr/>
      <dgm:t>
        <a:bodyPr/>
        <a:lstStyle/>
        <a:p>
          <a:endParaRPr lang="en-US"/>
        </a:p>
      </dgm:t>
    </dgm:pt>
    <dgm:pt modelId="{637476D3-9913-4CE7-AD35-A0E4BA815E74}" type="sibTrans" cxnId="{8F85C419-7AC2-4CBF-9D3F-9E70CE54A2F4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EDD6073-15A7-4958-BE9F-2565B40715CE}">
      <dgm:prSet/>
      <dgm:spPr/>
      <dgm:t>
        <a:bodyPr/>
        <a:lstStyle/>
        <a:p>
          <a:r>
            <a:rPr lang="en-US"/>
            <a:t>Convert images into necessary dimension. </a:t>
          </a:r>
        </a:p>
      </dgm:t>
    </dgm:pt>
    <dgm:pt modelId="{C5B15BC9-534D-4DB5-915A-5A9091C6BCB9}" type="parTrans" cxnId="{09B3DE90-CCA0-4D89-A3E9-9F5A9DC8BDFB}">
      <dgm:prSet/>
      <dgm:spPr/>
      <dgm:t>
        <a:bodyPr/>
        <a:lstStyle/>
        <a:p>
          <a:endParaRPr lang="en-US"/>
        </a:p>
      </dgm:t>
    </dgm:pt>
    <dgm:pt modelId="{0A00B9CE-2C2B-4E2A-8BB2-0F28F3ED2C1E}" type="sibTrans" cxnId="{09B3DE90-CCA0-4D89-A3E9-9F5A9DC8BDFB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74569705-49C1-47BC-8904-96DC5B353BC5}">
      <dgm:prSet/>
      <dgm:spPr/>
      <dgm:t>
        <a:bodyPr/>
        <a:lstStyle/>
        <a:p>
          <a:r>
            <a:rPr lang="en-US"/>
            <a:t>Split the data into training and testing portions. </a:t>
          </a:r>
        </a:p>
      </dgm:t>
    </dgm:pt>
    <dgm:pt modelId="{0D2D51C7-D949-4A0B-AD30-5824590EF9B3}" type="parTrans" cxnId="{2B4FA61C-5BE2-4BA0-99BB-692EEEDC6CE5}">
      <dgm:prSet/>
      <dgm:spPr/>
      <dgm:t>
        <a:bodyPr/>
        <a:lstStyle/>
        <a:p>
          <a:endParaRPr lang="en-US"/>
        </a:p>
      </dgm:t>
    </dgm:pt>
    <dgm:pt modelId="{D7AF7C31-A25D-4F0D-9482-E493F0FDB94B}" type="sibTrans" cxnId="{2B4FA61C-5BE2-4BA0-99BB-692EEEDC6CE5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89B884E3-45B8-439C-818D-289A1FF59A1B}" type="pres">
      <dgm:prSet presAssocID="{F2DA4611-A3DE-45A8-9B4A-1DA8568C55D1}" presName="Name0" presStyleCnt="0">
        <dgm:presLayoutVars>
          <dgm:animLvl val="lvl"/>
          <dgm:resizeHandles val="exact"/>
        </dgm:presLayoutVars>
      </dgm:prSet>
      <dgm:spPr/>
    </dgm:pt>
    <dgm:pt modelId="{E9FCEB3C-F149-454A-985F-5C2A666038D0}" type="pres">
      <dgm:prSet presAssocID="{0CDE8B43-37A0-4FA5-AB91-CB854CA538A4}" presName="compositeNode" presStyleCnt="0">
        <dgm:presLayoutVars>
          <dgm:bulletEnabled val="1"/>
        </dgm:presLayoutVars>
      </dgm:prSet>
      <dgm:spPr/>
    </dgm:pt>
    <dgm:pt modelId="{8F49ED0A-CEC2-400F-BB6C-AE20124EC25A}" type="pres">
      <dgm:prSet presAssocID="{0CDE8B43-37A0-4FA5-AB91-CB854CA538A4}" presName="bgRect" presStyleLbl="bgAccFollowNode1" presStyleIdx="0" presStyleCnt="5"/>
      <dgm:spPr/>
    </dgm:pt>
    <dgm:pt modelId="{8318111D-E66A-40EE-AA01-1B0878304246}" type="pres">
      <dgm:prSet presAssocID="{7A2C83C6-3A8B-495A-8F0E-80A0AE9A7F50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09628009-0120-458A-9949-ACEA07DA7C83}" type="pres">
      <dgm:prSet presAssocID="{0CDE8B43-37A0-4FA5-AB91-CB854CA538A4}" presName="bottomLine" presStyleLbl="alignNode1" presStyleIdx="1" presStyleCnt="10">
        <dgm:presLayoutVars/>
      </dgm:prSet>
      <dgm:spPr/>
    </dgm:pt>
    <dgm:pt modelId="{391F60F5-6622-46A3-AB4B-AE114193DC3F}" type="pres">
      <dgm:prSet presAssocID="{0CDE8B43-37A0-4FA5-AB91-CB854CA538A4}" presName="nodeText" presStyleLbl="bgAccFollowNode1" presStyleIdx="0" presStyleCnt="5">
        <dgm:presLayoutVars>
          <dgm:bulletEnabled val="1"/>
        </dgm:presLayoutVars>
      </dgm:prSet>
      <dgm:spPr/>
    </dgm:pt>
    <dgm:pt modelId="{E6DCF549-500C-46D3-ABB1-04AEF42759C4}" type="pres">
      <dgm:prSet presAssocID="{7A2C83C6-3A8B-495A-8F0E-80A0AE9A7F50}" presName="sibTrans" presStyleCnt="0"/>
      <dgm:spPr/>
    </dgm:pt>
    <dgm:pt modelId="{67AAB6C2-C5AA-4383-AFE6-26C49FD7504B}" type="pres">
      <dgm:prSet presAssocID="{B902E61B-1A45-47D2-B85E-FC951072B1A9}" presName="compositeNode" presStyleCnt="0">
        <dgm:presLayoutVars>
          <dgm:bulletEnabled val="1"/>
        </dgm:presLayoutVars>
      </dgm:prSet>
      <dgm:spPr/>
    </dgm:pt>
    <dgm:pt modelId="{35293537-803B-4E22-A1DB-0CA4938FB40B}" type="pres">
      <dgm:prSet presAssocID="{B902E61B-1A45-47D2-B85E-FC951072B1A9}" presName="bgRect" presStyleLbl="bgAccFollowNode1" presStyleIdx="1" presStyleCnt="5"/>
      <dgm:spPr/>
    </dgm:pt>
    <dgm:pt modelId="{C8D87077-E78A-4D81-9FB4-3342F0E1944C}" type="pres">
      <dgm:prSet presAssocID="{F60A4206-2261-4C3C-8C0D-3C878548A02E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C862F3A7-FF3A-4057-B1BE-B9FFBD9B247D}" type="pres">
      <dgm:prSet presAssocID="{B902E61B-1A45-47D2-B85E-FC951072B1A9}" presName="bottomLine" presStyleLbl="alignNode1" presStyleIdx="3" presStyleCnt="10">
        <dgm:presLayoutVars/>
      </dgm:prSet>
      <dgm:spPr/>
    </dgm:pt>
    <dgm:pt modelId="{F1EEC9F8-D27F-4447-ACE1-1B5FDB4ECA09}" type="pres">
      <dgm:prSet presAssocID="{B902E61B-1A45-47D2-B85E-FC951072B1A9}" presName="nodeText" presStyleLbl="bgAccFollowNode1" presStyleIdx="1" presStyleCnt="5">
        <dgm:presLayoutVars>
          <dgm:bulletEnabled val="1"/>
        </dgm:presLayoutVars>
      </dgm:prSet>
      <dgm:spPr/>
    </dgm:pt>
    <dgm:pt modelId="{298C55F4-8A89-474B-9E6A-2E0680A067F4}" type="pres">
      <dgm:prSet presAssocID="{F60A4206-2261-4C3C-8C0D-3C878548A02E}" presName="sibTrans" presStyleCnt="0"/>
      <dgm:spPr/>
    </dgm:pt>
    <dgm:pt modelId="{81892846-1269-4159-8616-4B48FB2FB590}" type="pres">
      <dgm:prSet presAssocID="{D9B1B99B-2020-401C-B038-96CFCAE2F96B}" presName="compositeNode" presStyleCnt="0">
        <dgm:presLayoutVars>
          <dgm:bulletEnabled val="1"/>
        </dgm:presLayoutVars>
      </dgm:prSet>
      <dgm:spPr/>
    </dgm:pt>
    <dgm:pt modelId="{D17A1496-167B-4D37-A2BE-C7CBE84695DD}" type="pres">
      <dgm:prSet presAssocID="{D9B1B99B-2020-401C-B038-96CFCAE2F96B}" presName="bgRect" presStyleLbl="bgAccFollowNode1" presStyleIdx="2" presStyleCnt="5"/>
      <dgm:spPr/>
    </dgm:pt>
    <dgm:pt modelId="{D2EC7619-47FD-484F-A49D-86699B2CCC44}" type="pres">
      <dgm:prSet presAssocID="{637476D3-9913-4CE7-AD35-A0E4BA815E74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53AD0F19-2D56-4036-A4FF-2AA1C6600DDD}" type="pres">
      <dgm:prSet presAssocID="{D9B1B99B-2020-401C-B038-96CFCAE2F96B}" presName="bottomLine" presStyleLbl="alignNode1" presStyleIdx="5" presStyleCnt="10">
        <dgm:presLayoutVars/>
      </dgm:prSet>
      <dgm:spPr/>
    </dgm:pt>
    <dgm:pt modelId="{18915634-035E-4C24-843E-EF8BD0076117}" type="pres">
      <dgm:prSet presAssocID="{D9B1B99B-2020-401C-B038-96CFCAE2F96B}" presName="nodeText" presStyleLbl="bgAccFollowNode1" presStyleIdx="2" presStyleCnt="5">
        <dgm:presLayoutVars>
          <dgm:bulletEnabled val="1"/>
        </dgm:presLayoutVars>
      </dgm:prSet>
      <dgm:spPr/>
    </dgm:pt>
    <dgm:pt modelId="{5271CC34-37C2-4AA7-BA47-5E952355D8E2}" type="pres">
      <dgm:prSet presAssocID="{637476D3-9913-4CE7-AD35-A0E4BA815E74}" presName="sibTrans" presStyleCnt="0"/>
      <dgm:spPr/>
    </dgm:pt>
    <dgm:pt modelId="{A0B208D6-05BA-43A9-A9FC-362265E10CFB}" type="pres">
      <dgm:prSet presAssocID="{6EDD6073-15A7-4958-BE9F-2565B40715CE}" presName="compositeNode" presStyleCnt="0">
        <dgm:presLayoutVars>
          <dgm:bulletEnabled val="1"/>
        </dgm:presLayoutVars>
      </dgm:prSet>
      <dgm:spPr/>
    </dgm:pt>
    <dgm:pt modelId="{4D0E1820-231E-45C1-8829-873F07007A83}" type="pres">
      <dgm:prSet presAssocID="{6EDD6073-15A7-4958-BE9F-2565B40715CE}" presName="bgRect" presStyleLbl="bgAccFollowNode1" presStyleIdx="3" presStyleCnt="5"/>
      <dgm:spPr/>
    </dgm:pt>
    <dgm:pt modelId="{05DB90F6-219F-4C4A-8343-5040C9D96319}" type="pres">
      <dgm:prSet presAssocID="{0A00B9CE-2C2B-4E2A-8BB2-0F28F3ED2C1E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FF0ADAC7-0CA7-46AA-BD4B-7DE4C5B181C6}" type="pres">
      <dgm:prSet presAssocID="{6EDD6073-15A7-4958-BE9F-2565B40715CE}" presName="bottomLine" presStyleLbl="alignNode1" presStyleIdx="7" presStyleCnt="10">
        <dgm:presLayoutVars/>
      </dgm:prSet>
      <dgm:spPr/>
    </dgm:pt>
    <dgm:pt modelId="{4CF0C3CA-C396-4B2E-ACC9-538F97AB4C83}" type="pres">
      <dgm:prSet presAssocID="{6EDD6073-15A7-4958-BE9F-2565B40715CE}" presName="nodeText" presStyleLbl="bgAccFollowNode1" presStyleIdx="3" presStyleCnt="5">
        <dgm:presLayoutVars>
          <dgm:bulletEnabled val="1"/>
        </dgm:presLayoutVars>
      </dgm:prSet>
      <dgm:spPr/>
    </dgm:pt>
    <dgm:pt modelId="{5099A2D7-D4A4-4556-BCA5-5974C7EC98D4}" type="pres">
      <dgm:prSet presAssocID="{0A00B9CE-2C2B-4E2A-8BB2-0F28F3ED2C1E}" presName="sibTrans" presStyleCnt="0"/>
      <dgm:spPr/>
    </dgm:pt>
    <dgm:pt modelId="{4F287314-CF7C-4C91-84A2-4C41581C7ECE}" type="pres">
      <dgm:prSet presAssocID="{74569705-49C1-47BC-8904-96DC5B353BC5}" presName="compositeNode" presStyleCnt="0">
        <dgm:presLayoutVars>
          <dgm:bulletEnabled val="1"/>
        </dgm:presLayoutVars>
      </dgm:prSet>
      <dgm:spPr/>
    </dgm:pt>
    <dgm:pt modelId="{F485EBB0-29CA-486C-93AB-2852737F248B}" type="pres">
      <dgm:prSet presAssocID="{74569705-49C1-47BC-8904-96DC5B353BC5}" presName="bgRect" presStyleLbl="bgAccFollowNode1" presStyleIdx="4" presStyleCnt="5"/>
      <dgm:spPr/>
    </dgm:pt>
    <dgm:pt modelId="{EA31ACC7-C3F8-47B7-8931-F35B8007C651}" type="pres">
      <dgm:prSet presAssocID="{D7AF7C31-A25D-4F0D-9482-E493F0FDB94B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D42B1139-8A5F-4626-AF2D-C46F3CFF182E}" type="pres">
      <dgm:prSet presAssocID="{74569705-49C1-47BC-8904-96DC5B353BC5}" presName="bottomLine" presStyleLbl="alignNode1" presStyleIdx="9" presStyleCnt="10">
        <dgm:presLayoutVars/>
      </dgm:prSet>
      <dgm:spPr/>
    </dgm:pt>
    <dgm:pt modelId="{77847F1F-3467-45B1-A74F-BFFACA8C8048}" type="pres">
      <dgm:prSet presAssocID="{74569705-49C1-47BC-8904-96DC5B353BC5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0437F80A-3648-4ABB-84F7-CD7EA0521E39}" type="presOf" srcId="{74569705-49C1-47BC-8904-96DC5B353BC5}" destId="{F485EBB0-29CA-486C-93AB-2852737F248B}" srcOrd="0" destOrd="0" presId="urn:microsoft.com/office/officeart/2016/7/layout/BasicLinearProcessNumbered"/>
    <dgm:cxn modelId="{8F85C419-7AC2-4CBF-9D3F-9E70CE54A2F4}" srcId="{F2DA4611-A3DE-45A8-9B4A-1DA8568C55D1}" destId="{D9B1B99B-2020-401C-B038-96CFCAE2F96B}" srcOrd="2" destOrd="0" parTransId="{B8C82AD3-050E-4456-9B03-A5C0F2ADB5A6}" sibTransId="{637476D3-9913-4CE7-AD35-A0E4BA815E74}"/>
    <dgm:cxn modelId="{2B4FA61C-5BE2-4BA0-99BB-692EEEDC6CE5}" srcId="{F2DA4611-A3DE-45A8-9B4A-1DA8568C55D1}" destId="{74569705-49C1-47BC-8904-96DC5B353BC5}" srcOrd="4" destOrd="0" parTransId="{0D2D51C7-D949-4A0B-AD30-5824590EF9B3}" sibTransId="{D7AF7C31-A25D-4F0D-9482-E493F0FDB94B}"/>
    <dgm:cxn modelId="{4210C11D-6B34-4A53-B4D2-91B6B220A3D4}" type="presOf" srcId="{B902E61B-1A45-47D2-B85E-FC951072B1A9}" destId="{F1EEC9F8-D27F-4447-ACE1-1B5FDB4ECA09}" srcOrd="1" destOrd="0" presId="urn:microsoft.com/office/officeart/2016/7/layout/BasicLinearProcessNumbered"/>
    <dgm:cxn modelId="{3E66042B-BFD6-4FA1-9C79-5E5594400E17}" srcId="{F2DA4611-A3DE-45A8-9B4A-1DA8568C55D1}" destId="{B902E61B-1A45-47D2-B85E-FC951072B1A9}" srcOrd="1" destOrd="0" parTransId="{6DD18F76-1984-4AF2-99A6-F2DA1592B99A}" sibTransId="{F60A4206-2261-4C3C-8C0D-3C878548A02E}"/>
    <dgm:cxn modelId="{51E4D25D-F63E-441B-B01C-FE5C5BB57D62}" type="presOf" srcId="{0CDE8B43-37A0-4FA5-AB91-CB854CA538A4}" destId="{391F60F5-6622-46A3-AB4B-AE114193DC3F}" srcOrd="1" destOrd="0" presId="urn:microsoft.com/office/officeart/2016/7/layout/BasicLinearProcessNumbered"/>
    <dgm:cxn modelId="{538A7566-57B8-4F0F-904C-6747111FA41F}" type="presOf" srcId="{F2DA4611-A3DE-45A8-9B4A-1DA8568C55D1}" destId="{89B884E3-45B8-439C-818D-289A1FF59A1B}" srcOrd="0" destOrd="0" presId="urn:microsoft.com/office/officeart/2016/7/layout/BasicLinearProcessNumbered"/>
    <dgm:cxn modelId="{3C28D14B-3A82-4525-AF9B-16A47FF21D71}" type="presOf" srcId="{0CDE8B43-37A0-4FA5-AB91-CB854CA538A4}" destId="{8F49ED0A-CEC2-400F-BB6C-AE20124EC25A}" srcOrd="0" destOrd="0" presId="urn:microsoft.com/office/officeart/2016/7/layout/BasicLinearProcessNumbered"/>
    <dgm:cxn modelId="{1AD4FE7A-40D7-494B-9848-91CFF0E23E0A}" type="presOf" srcId="{74569705-49C1-47BC-8904-96DC5B353BC5}" destId="{77847F1F-3467-45B1-A74F-BFFACA8C8048}" srcOrd="1" destOrd="0" presId="urn:microsoft.com/office/officeart/2016/7/layout/BasicLinearProcessNumbered"/>
    <dgm:cxn modelId="{90407586-E830-42D6-9A48-758EECAF3C56}" type="presOf" srcId="{D9B1B99B-2020-401C-B038-96CFCAE2F96B}" destId="{18915634-035E-4C24-843E-EF8BD0076117}" srcOrd="1" destOrd="0" presId="urn:microsoft.com/office/officeart/2016/7/layout/BasicLinearProcessNumbered"/>
    <dgm:cxn modelId="{09B3DE90-CCA0-4D89-A3E9-9F5A9DC8BDFB}" srcId="{F2DA4611-A3DE-45A8-9B4A-1DA8568C55D1}" destId="{6EDD6073-15A7-4958-BE9F-2565B40715CE}" srcOrd="3" destOrd="0" parTransId="{C5B15BC9-534D-4DB5-915A-5A9091C6BCB9}" sibTransId="{0A00B9CE-2C2B-4E2A-8BB2-0F28F3ED2C1E}"/>
    <dgm:cxn modelId="{B0D1E298-FFC5-4B26-8A64-B2AA1D2EB080}" type="presOf" srcId="{F60A4206-2261-4C3C-8C0D-3C878548A02E}" destId="{C8D87077-E78A-4D81-9FB4-3342F0E1944C}" srcOrd="0" destOrd="0" presId="urn:microsoft.com/office/officeart/2016/7/layout/BasicLinearProcessNumbered"/>
    <dgm:cxn modelId="{55A659B5-669F-49EB-ABC1-03F9C5570953}" type="presOf" srcId="{B902E61B-1A45-47D2-B85E-FC951072B1A9}" destId="{35293537-803B-4E22-A1DB-0CA4938FB40B}" srcOrd="0" destOrd="0" presId="urn:microsoft.com/office/officeart/2016/7/layout/BasicLinearProcessNumbered"/>
    <dgm:cxn modelId="{AE67FDB7-CCE0-4128-95DE-0D46C0F8B209}" type="presOf" srcId="{6EDD6073-15A7-4958-BE9F-2565B40715CE}" destId="{4CF0C3CA-C396-4B2E-ACC9-538F97AB4C83}" srcOrd="1" destOrd="0" presId="urn:microsoft.com/office/officeart/2016/7/layout/BasicLinearProcessNumbered"/>
    <dgm:cxn modelId="{F62FE7BA-A9CA-4CE3-B026-231E4284CED4}" type="presOf" srcId="{637476D3-9913-4CE7-AD35-A0E4BA815E74}" destId="{D2EC7619-47FD-484F-A49D-86699B2CCC44}" srcOrd="0" destOrd="0" presId="urn:microsoft.com/office/officeart/2016/7/layout/BasicLinearProcessNumbered"/>
    <dgm:cxn modelId="{9381BBC2-BC43-4A4D-AF47-D7FBE58BA326}" srcId="{F2DA4611-A3DE-45A8-9B4A-1DA8568C55D1}" destId="{0CDE8B43-37A0-4FA5-AB91-CB854CA538A4}" srcOrd="0" destOrd="0" parTransId="{EEB08BAD-8A84-4935-BD45-0F8DD0CBD784}" sibTransId="{7A2C83C6-3A8B-495A-8F0E-80A0AE9A7F50}"/>
    <dgm:cxn modelId="{15EF69C3-4270-43CD-9852-A287FA9D140B}" type="presOf" srcId="{D9B1B99B-2020-401C-B038-96CFCAE2F96B}" destId="{D17A1496-167B-4D37-A2BE-C7CBE84695DD}" srcOrd="0" destOrd="0" presId="urn:microsoft.com/office/officeart/2016/7/layout/BasicLinearProcessNumbered"/>
    <dgm:cxn modelId="{6B85A4CE-8631-47D9-9678-0B5CEF558969}" type="presOf" srcId="{6EDD6073-15A7-4958-BE9F-2565B40715CE}" destId="{4D0E1820-231E-45C1-8829-873F07007A83}" srcOrd="0" destOrd="0" presId="urn:microsoft.com/office/officeart/2016/7/layout/BasicLinearProcessNumbered"/>
    <dgm:cxn modelId="{CF9DB7D8-7B76-4053-B7F9-ED8F8364E931}" type="presOf" srcId="{0A00B9CE-2C2B-4E2A-8BB2-0F28F3ED2C1E}" destId="{05DB90F6-219F-4C4A-8343-5040C9D96319}" srcOrd="0" destOrd="0" presId="urn:microsoft.com/office/officeart/2016/7/layout/BasicLinearProcessNumbered"/>
    <dgm:cxn modelId="{225984F2-147F-45D1-AD6D-C2BFEF839A83}" type="presOf" srcId="{7A2C83C6-3A8B-495A-8F0E-80A0AE9A7F50}" destId="{8318111D-E66A-40EE-AA01-1B0878304246}" srcOrd="0" destOrd="0" presId="urn:microsoft.com/office/officeart/2016/7/layout/BasicLinearProcessNumbered"/>
    <dgm:cxn modelId="{47C965F7-20AD-4D8E-815B-CB8EFE9FDA35}" type="presOf" srcId="{D7AF7C31-A25D-4F0D-9482-E493F0FDB94B}" destId="{EA31ACC7-C3F8-47B7-8931-F35B8007C651}" srcOrd="0" destOrd="0" presId="urn:microsoft.com/office/officeart/2016/7/layout/BasicLinearProcessNumbered"/>
    <dgm:cxn modelId="{956C9934-34D3-4FF9-B7F6-9F9F8FB90754}" type="presParOf" srcId="{89B884E3-45B8-439C-818D-289A1FF59A1B}" destId="{E9FCEB3C-F149-454A-985F-5C2A666038D0}" srcOrd="0" destOrd="0" presId="urn:microsoft.com/office/officeart/2016/7/layout/BasicLinearProcessNumbered"/>
    <dgm:cxn modelId="{12A7AB2E-90A8-42EF-BACB-8EDE896853F2}" type="presParOf" srcId="{E9FCEB3C-F149-454A-985F-5C2A666038D0}" destId="{8F49ED0A-CEC2-400F-BB6C-AE20124EC25A}" srcOrd="0" destOrd="0" presId="urn:microsoft.com/office/officeart/2016/7/layout/BasicLinearProcessNumbered"/>
    <dgm:cxn modelId="{D493CC0E-3936-4BC9-B8EA-A45B5A21452E}" type="presParOf" srcId="{E9FCEB3C-F149-454A-985F-5C2A666038D0}" destId="{8318111D-E66A-40EE-AA01-1B0878304246}" srcOrd="1" destOrd="0" presId="urn:microsoft.com/office/officeart/2016/7/layout/BasicLinearProcessNumbered"/>
    <dgm:cxn modelId="{67D8B41C-51D0-4F2B-BC1C-7EB14EF70468}" type="presParOf" srcId="{E9FCEB3C-F149-454A-985F-5C2A666038D0}" destId="{09628009-0120-458A-9949-ACEA07DA7C83}" srcOrd="2" destOrd="0" presId="urn:microsoft.com/office/officeart/2016/7/layout/BasicLinearProcessNumbered"/>
    <dgm:cxn modelId="{82E40ACC-F4AB-4C27-ABBE-B54B720B0D56}" type="presParOf" srcId="{E9FCEB3C-F149-454A-985F-5C2A666038D0}" destId="{391F60F5-6622-46A3-AB4B-AE114193DC3F}" srcOrd="3" destOrd="0" presId="urn:microsoft.com/office/officeart/2016/7/layout/BasicLinearProcessNumbered"/>
    <dgm:cxn modelId="{5F7E807E-C158-4ACF-9953-D27D6D41CDCD}" type="presParOf" srcId="{89B884E3-45B8-439C-818D-289A1FF59A1B}" destId="{E6DCF549-500C-46D3-ABB1-04AEF42759C4}" srcOrd="1" destOrd="0" presId="urn:microsoft.com/office/officeart/2016/7/layout/BasicLinearProcessNumbered"/>
    <dgm:cxn modelId="{697AC90C-B212-447F-A662-A95DF4FF771C}" type="presParOf" srcId="{89B884E3-45B8-439C-818D-289A1FF59A1B}" destId="{67AAB6C2-C5AA-4383-AFE6-26C49FD7504B}" srcOrd="2" destOrd="0" presId="urn:microsoft.com/office/officeart/2016/7/layout/BasicLinearProcessNumbered"/>
    <dgm:cxn modelId="{CF0E8A86-2000-4069-A921-7029BCEA7748}" type="presParOf" srcId="{67AAB6C2-C5AA-4383-AFE6-26C49FD7504B}" destId="{35293537-803B-4E22-A1DB-0CA4938FB40B}" srcOrd="0" destOrd="0" presId="urn:microsoft.com/office/officeart/2016/7/layout/BasicLinearProcessNumbered"/>
    <dgm:cxn modelId="{3377677C-2A51-4697-9EFA-AB9962FEC627}" type="presParOf" srcId="{67AAB6C2-C5AA-4383-AFE6-26C49FD7504B}" destId="{C8D87077-E78A-4D81-9FB4-3342F0E1944C}" srcOrd="1" destOrd="0" presId="urn:microsoft.com/office/officeart/2016/7/layout/BasicLinearProcessNumbered"/>
    <dgm:cxn modelId="{A3251AD9-00A3-480B-8019-E21320ABB41E}" type="presParOf" srcId="{67AAB6C2-C5AA-4383-AFE6-26C49FD7504B}" destId="{C862F3A7-FF3A-4057-B1BE-B9FFBD9B247D}" srcOrd="2" destOrd="0" presId="urn:microsoft.com/office/officeart/2016/7/layout/BasicLinearProcessNumbered"/>
    <dgm:cxn modelId="{7D28C34B-DB27-459C-A91C-EC0F95C0FA1D}" type="presParOf" srcId="{67AAB6C2-C5AA-4383-AFE6-26C49FD7504B}" destId="{F1EEC9F8-D27F-4447-ACE1-1B5FDB4ECA09}" srcOrd="3" destOrd="0" presId="urn:microsoft.com/office/officeart/2016/7/layout/BasicLinearProcessNumbered"/>
    <dgm:cxn modelId="{AE720F28-C371-4834-AA6B-4F66685F6079}" type="presParOf" srcId="{89B884E3-45B8-439C-818D-289A1FF59A1B}" destId="{298C55F4-8A89-474B-9E6A-2E0680A067F4}" srcOrd="3" destOrd="0" presId="urn:microsoft.com/office/officeart/2016/7/layout/BasicLinearProcessNumbered"/>
    <dgm:cxn modelId="{8BD10402-F21C-4656-9D59-CA934737DCD6}" type="presParOf" srcId="{89B884E3-45B8-439C-818D-289A1FF59A1B}" destId="{81892846-1269-4159-8616-4B48FB2FB590}" srcOrd="4" destOrd="0" presId="urn:microsoft.com/office/officeart/2016/7/layout/BasicLinearProcessNumbered"/>
    <dgm:cxn modelId="{19CC8C09-DA1C-433D-BA09-EF47BBCAED66}" type="presParOf" srcId="{81892846-1269-4159-8616-4B48FB2FB590}" destId="{D17A1496-167B-4D37-A2BE-C7CBE84695DD}" srcOrd="0" destOrd="0" presId="urn:microsoft.com/office/officeart/2016/7/layout/BasicLinearProcessNumbered"/>
    <dgm:cxn modelId="{8037BC99-14B5-4D04-A895-5E0A8B5C2094}" type="presParOf" srcId="{81892846-1269-4159-8616-4B48FB2FB590}" destId="{D2EC7619-47FD-484F-A49D-86699B2CCC44}" srcOrd="1" destOrd="0" presId="urn:microsoft.com/office/officeart/2016/7/layout/BasicLinearProcessNumbered"/>
    <dgm:cxn modelId="{FD312CFE-FC8B-42AD-8533-595D9A32AF4B}" type="presParOf" srcId="{81892846-1269-4159-8616-4B48FB2FB590}" destId="{53AD0F19-2D56-4036-A4FF-2AA1C6600DDD}" srcOrd="2" destOrd="0" presId="urn:microsoft.com/office/officeart/2016/7/layout/BasicLinearProcessNumbered"/>
    <dgm:cxn modelId="{B9EFC254-00C0-4045-B971-7D449342EA81}" type="presParOf" srcId="{81892846-1269-4159-8616-4B48FB2FB590}" destId="{18915634-035E-4C24-843E-EF8BD0076117}" srcOrd="3" destOrd="0" presId="urn:microsoft.com/office/officeart/2016/7/layout/BasicLinearProcessNumbered"/>
    <dgm:cxn modelId="{1609DDDC-A199-4E65-B15C-4A78AFFD278C}" type="presParOf" srcId="{89B884E3-45B8-439C-818D-289A1FF59A1B}" destId="{5271CC34-37C2-4AA7-BA47-5E952355D8E2}" srcOrd="5" destOrd="0" presId="urn:microsoft.com/office/officeart/2016/7/layout/BasicLinearProcessNumbered"/>
    <dgm:cxn modelId="{73171022-7771-47A6-9389-0F976A9EBD30}" type="presParOf" srcId="{89B884E3-45B8-439C-818D-289A1FF59A1B}" destId="{A0B208D6-05BA-43A9-A9FC-362265E10CFB}" srcOrd="6" destOrd="0" presId="urn:microsoft.com/office/officeart/2016/7/layout/BasicLinearProcessNumbered"/>
    <dgm:cxn modelId="{FAD330CE-9932-4C0E-87B4-7275CF1DA8EE}" type="presParOf" srcId="{A0B208D6-05BA-43A9-A9FC-362265E10CFB}" destId="{4D0E1820-231E-45C1-8829-873F07007A83}" srcOrd="0" destOrd="0" presId="urn:microsoft.com/office/officeart/2016/7/layout/BasicLinearProcessNumbered"/>
    <dgm:cxn modelId="{0555EEDB-60B5-47BD-980D-5295E3671765}" type="presParOf" srcId="{A0B208D6-05BA-43A9-A9FC-362265E10CFB}" destId="{05DB90F6-219F-4C4A-8343-5040C9D96319}" srcOrd="1" destOrd="0" presId="urn:microsoft.com/office/officeart/2016/7/layout/BasicLinearProcessNumbered"/>
    <dgm:cxn modelId="{235C7EED-D56C-4F10-87C9-1A6D76999FDA}" type="presParOf" srcId="{A0B208D6-05BA-43A9-A9FC-362265E10CFB}" destId="{FF0ADAC7-0CA7-46AA-BD4B-7DE4C5B181C6}" srcOrd="2" destOrd="0" presId="urn:microsoft.com/office/officeart/2016/7/layout/BasicLinearProcessNumbered"/>
    <dgm:cxn modelId="{1B3FA67E-2F8B-4665-AFAA-E6519E8B6868}" type="presParOf" srcId="{A0B208D6-05BA-43A9-A9FC-362265E10CFB}" destId="{4CF0C3CA-C396-4B2E-ACC9-538F97AB4C83}" srcOrd="3" destOrd="0" presId="urn:microsoft.com/office/officeart/2016/7/layout/BasicLinearProcessNumbered"/>
    <dgm:cxn modelId="{A1B73BD7-5DAC-46E9-8C1D-C405272B88EE}" type="presParOf" srcId="{89B884E3-45B8-439C-818D-289A1FF59A1B}" destId="{5099A2D7-D4A4-4556-BCA5-5974C7EC98D4}" srcOrd="7" destOrd="0" presId="urn:microsoft.com/office/officeart/2016/7/layout/BasicLinearProcessNumbered"/>
    <dgm:cxn modelId="{6C625E45-DD49-4906-840C-70C5C9A54759}" type="presParOf" srcId="{89B884E3-45B8-439C-818D-289A1FF59A1B}" destId="{4F287314-CF7C-4C91-84A2-4C41581C7ECE}" srcOrd="8" destOrd="0" presId="urn:microsoft.com/office/officeart/2016/7/layout/BasicLinearProcessNumbered"/>
    <dgm:cxn modelId="{5B1FCFDE-BDA2-4CDB-AC20-46C4078976A2}" type="presParOf" srcId="{4F287314-CF7C-4C91-84A2-4C41581C7ECE}" destId="{F485EBB0-29CA-486C-93AB-2852737F248B}" srcOrd="0" destOrd="0" presId="urn:microsoft.com/office/officeart/2016/7/layout/BasicLinearProcessNumbered"/>
    <dgm:cxn modelId="{98B6DF11-0656-4203-98DA-DFF1AE82D782}" type="presParOf" srcId="{4F287314-CF7C-4C91-84A2-4C41581C7ECE}" destId="{EA31ACC7-C3F8-47B7-8931-F35B8007C651}" srcOrd="1" destOrd="0" presId="urn:microsoft.com/office/officeart/2016/7/layout/BasicLinearProcessNumbered"/>
    <dgm:cxn modelId="{CB154A26-10B2-46BA-8EB9-4FEEFDC068E2}" type="presParOf" srcId="{4F287314-CF7C-4C91-84A2-4C41581C7ECE}" destId="{D42B1139-8A5F-4626-AF2D-C46F3CFF182E}" srcOrd="2" destOrd="0" presId="urn:microsoft.com/office/officeart/2016/7/layout/BasicLinearProcessNumbered"/>
    <dgm:cxn modelId="{A83FE66F-C356-4C63-AF76-FED6915388C8}" type="presParOf" srcId="{4F287314-CF7C-4C91-84A2-4C41581C7ECE}" destId="{77847F1F-3467-45B1-A74F-BFFACA8C8048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9ED0A-CEC2-400F-BB6C-AE20124EC25A}">
      <dsp:nvSpPr>
        <dsp:cNvPr id="0" name=""/>
        <dsp:cNvSpPr/>
      </dsp:nvSpPr>
      <dsp:spPr>
        <a:xfrm>
          <a:off x="3599" y="811352"/>
          <a:ext cx="1949023" cy="272863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953" tIns="330200" rIns="15195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Remove data with empty values.</a:t>
          </a:r>
        </a:p>
      </dsp:txBody>
      <dsp:txXfrm>
        <a:off x="3599" y="1848233"/>
        <a:ext cx="1949023" cy="1637179"/>
      </dsp:txXfrm>
    </dsp:sp>
    <dsp:sp modelId="{8318111D-E66A-40EE-AA01-1B0878304246}">
      <dsp:nvSpPr>
        <dsp:cNvPr id="0" name=""/>
        <dsp:cNvSpPr/>
      </dsp:nvSpPr>
      <dsp:spPr>
        <a:xfrm>
          <a:off x="568816" y="1084215"/>
          <a:ext cx="818589" cy="8185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20" tIns="12700" rIns="63820" bIns="1270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1</a:t>
          </a:r>
        </a:p>
      </dsp:txBody>
      <dsp:txXfrm>
        <a:off x="688696" y="1204095"/>
        <a:ext cx="578829" cy="578829"/>
      </dsp:txXfrm>
    </dsp:sp>
    <dsp:sp modelId="{09628009-0120-458A-9949-ACEA07DA7C83}">
      <dsp:nvSpPr>
        <dsp:cNvPr id="0" name=""/>
        <dsp:cNvSpPr/>
      </dsp:nvSpPr>
      <dsp:spPr>
        <a:xfrm>
          <a:off x="3599" y="3539913"/>
          <a:ext cx="1949023" cy="72"/>
        </a:xfrm>
        <a:prstGeom prst="rect">
          <a:avLst/>
        </a:prstGeom>
        <a:solidFill>
          <a:schemeClr val="accent2">
            <a:hueOff val="-1280041"/>
            <a:satOff val="10881"/>
            <a:lumOff val="305"/>
            <a:alphaOff val="0"/>
          </a:schemeClr>
        </a:solidFill>
        <a:ln w="12700" cap="flat" cmpd="sng" algn="ctr">
          <a:solidFill>
            <a:schemeClr val="accent2">
              <a:hueOff val="-1280041"/>
              <a:satOff val="10881"/>
              <a:lumOff val="3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293537-803B-4E22-A1DB-0CA4938FB40B}">
      <dsp:nvSpPr>
        <dsp:cNvPr id="0" name=""/>
        <dsp:cNvSpPr/>
      </dsp:nvSpPr>
      <dsp:spPr>
        <a:xfrm>
          <a:off x="2147525" y="811352"/>
          <a:ext cx="1949023" cy="2728633"/>
        </a:xfrm>
        <a:prstGeom prst="rect">
          <a:avLst/>
        </a:prstGeom>
        <a:solidFill>
          <a:schemeClr val="accent2">
            <a:tint val="40000"/>
            <a:alpha val="90000"/>
            <a:hueOff val="-3105772"/>
            <a:satOff val="24706"/>
            <a:lumOff val="144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105772"/>
              <a:satOff val="24706"/>
              <a:lumOff val="14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953" tIns="330200" rIns="15195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Convert City and Street to categorical values. </a:t>
          </a:r>
        </a:p>
      </dsp:txBody>
      <dsp:txXfrm>
        <a:off x="2147525" y="1848233"/>
        <a:ext cx="1949023" cy="1637179"/>
      </dsp:txXfrm>
    </dsp:sp>
    <dsp:sp modelId="{C8D87077-E78A-4D81-9FB4-3342F0E1944C}">
      <dsp:nvSpPr>
        <dsp:cNvPr id="0" name=""/>
        <dsp:cNvSpPr/>
      </dsp:nvSpPr>
      <dsp:spPr>
        <a:xfrm>
          <a:off x="2712742" y="1084215"/>
          <a:ext cx="818589" cy="818589"/>
        </a:xfrm>
        <a:prstGeom prst="ellipse">
          <a:avLst/>
        </a:prstGeom>
        <a:solidFill>
          <a:schemeClr val="accent2">
            <a:hueOff val="-2560082"/>
            <a:satOff val="21761"/>
            <a:lumOff val="610"/>
            <a:alphaOff val="0"/>
          </a:schemeClr>
        </a:solidFill>
        <a:ln w="12700" cap="flat" cmpd="sng" algn="ctr">
          <a:solidFill>
            <a:schemeClr val="accent2">
              <a:hueOff val="-2560082"/>
              <a:satOff val="21761"/>
              <a:lumOff val="6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20" tIns="12700" rIns="63820" bIns="1270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2</a:t>
          </a:r>
        </a:p>
      </dsp:txBody>
      <dsp:txXfrm>
        <a:off x="2832622" y="1204095"/>
        <a:ext cx="578829" cy="578829"/>
      </dsp:txXfrm>
    </dsp:sp>
    <dsp:sp modelId="{C862F3A7-FF3A-4057-B1BE-B9FFBD9B247D}">
      <dsp:nvSpPr>
        <dsp:cNvPr id="0" name=""/>
        <dsp:cNvSpPr/>
      </dsp:nvSpPr>
      <dsp:spPr>
        <a:xfrm>
          <a:off x="2147525" y="3539913"/>
          <a:ext cx="1949023" cy="72"/>
        </a:xfrm>
        <a:prstGeom prst="rect">
          <a:avLst/>
        </a:prstGeom>
        <a:solidFill>
          <a:schemeClr val="accent2">
            <a:hueOff val="-3840123"/>
            <a:satOff val="32642"/>
            <a:lumOff val="915"/>
            <a:alphaOff val="0"/>
          </a:schemeClr>
        </a:solidFill>
        <a:ln w="12700" cap="flat" cmpd="sng" algn="ctr">
          <a:solidFill>
            <a:schemeClr val="accent2">
              <a:hueOff val="-3840123"/>
              <a:satOff val="32642"/>
              <a:lumOff val="9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7A1496-167B-4D37-A2BE-C7CBE84695DD}">
      <dsp:nvSpPr>
        <dsp:cNvPr id="0" name=""/>
        <dsp:cNvSpPr/>
      </dsp:nvSpPr>
      <dsp:spPr>
        <a:xfrm>
          <a:off x="4291452" y="811352"/>
          <a:ext cx="1949023" cy="2728633"/>
        </a:xfrm>
        <a:prstGeom prst="rect">
          <a:avLst/>
        </a:prstGeom>
        <a:solidFill>
          <a:schemeClr val="accent2">
            <a:tint val="40000"/>
            <a:alpha val="90000"/>
            <a:hueOff val="-6211543"/>
            <a:satOff val="49411"/>
            <a:lumOff val="288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211543"/>
              <a:satOff val="49411"/>
              <a:lumOff val="28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953" tIns="330200" rIns="15195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Normalize area and price.</a:t>
          </a:r>
        </a:p>
      </dsp:txBody>
      <dsp:txXfrm>
        <a:off x="4291452" y="1848233"/>
        <a:ext cx="1949023" cy="1637179"/>
      </dsp:txXfrm>
    </dsp:sp>
    <dsp:sp modelId="{D2EC7619-47FD-484F-A49D-86699B2CCC44}">
      <dsp:nvSpPr>
        <dsp:cNvPr id="0" name=""/>
        <dsp:cNvSpPr/>
      </dsp:nvSpPr>
      <dsp:spPr>
        <a:xfrm>
          <a:off x="4856669" y="1084215"/>
          <a:ext cx="818589" cy="818589"/>
        </a:xfrm>
        <a:prstGeom prst="ellipse">
          <a:avLst/>
        </a:prstGeom>
        <a:solidFill>
          <a:schemeClr val="accent2">
            <a:hueOff val="-5120163"/>
            <a:satOff val="43522"/>
            <a:lumOff val="1220"/>
            <a:alphaOff val="0"/>
          </a:schemeClr>
        </a:solidFill>
        <a:ln w="12700" cap="flat" cmpd="sng" algn="ctr">
          <a:solidFill>
            <a:schemeClr val="accent2">
              <a:hueOff val="-5120163"/>
              <a:satOff val="43522"/>
              <a:lumOff val="12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20" tIns="12700" rIns="63820" bIns="1270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3</a:t>
          </a:r>
        </a:p>
      </dsp:txBody>
      <dsp:txXfrm>
        <a:off x="4976549" y="1204095"/>
        <a:ext cx="578829" cy="578829"/>
      </dsp:txXfrm>
    </dsp:sp>
    <dsp:sp modelId="{53AD0F19-2D56-4036-A4FF-2AA1C6600DDD}">
      <dsp:nvSpPr>
        <dsp:cNvPr id="0" name=""/>
        <dsp:cNvSpPr/>
      </dsp:nvSpPr>
      <dsp:spPr>
        <a:xfrm>
          <a:off x="4291452" y="3539913"/>
          <a:ext cx="1949023" cy="72"/>
        </a:xfrm>
        <a:prstGeom prst="rect">
          <a:avLst/>
        </a:prstGeom>
        <a:solidFill>
          <a:schemeClr val="accent2">
            <a:hueOff val="-6400204"/>
            <a:satOff val="54403"/>
            <a:lumOff val="1525"/>
            <a:alphaOff val="0"/>
          </a:schemeClr>
        </a:solidFill>
        <a:ln w="12700" cap="flat" cmpd="sng" algn="ctr">
          <a:solidFill>
            <a:schemeClr val="accent2">
              <a:hueOff val="-6400204"/>
              <a:satOff val="54403"/>
              <a:lumOff val="15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E1820-231E-45C1-8829-873F07007A83}">
      <dsp:nvSpPr>
        <dsp:cNvPr id="0" name=""/>
        <dsp:cNvSpPr/>
      </dsp:nvSpPr>
      <dsp:spPr>
        <a:xfrm>
          <a:off x="6435378" y="811352"/>
          <a:ext cx="1949023" cy="2728633"/>
        </a:xfrm>
        <a:prstGeom prst="rect">
          <a:avLst/>
        </a:prstGeom>
        <a:solidFill>
          <a:schemeClr val="accent2">
            <a:tint val="40000"/>
            <a:alpha val="90000"/>
            <a:hueOff val="-9317314"/>
            <a:satOff val="74117"/>
            <a:lumOff val="433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9317314"/>
              <a:satOff val="74117"/>
              <a:lumOff val="43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953" tIns="330200" rIns="15195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Convert images into necessary dimension. </a:t>
          </a:r>
        </a:p>
      </dsp:txBody>
      <dsp:txXfrm>
        <a:off x="6435378" y="1848233"/>
        <a:ext cx="1949023" cy="1637179"/>
      </dsp:txXfrm>
    </dsp:sp>
    <dsp:sp modelId="{05DB90F6-219F-4C4A-8343-5040C9D96319}">
      <dsp:nvSpPr>
        <dsp:cNvPr id="0" name=""/>
        <dsp:cNvSpPr/>
      </dsp:nvSpPr>
      <dsp:spPr>
        <a:xfrm>
          <a:off x="7000595" y="1084215"/>
          <a:ext cx="818589" cy="818589"/>
        </a:xfrm>
        <a:prstGeom prst="ellipse">
          <a:avLst/>
        </a:prstGeom>
        <a:solidFill>
          <a:schemeClr val="accent2">
            <a:hueOff val="-7680245"/>
            <a:satOff val="65283"/>
            <a:lumOff val="1830"/>
            <a:alphaOff val="0"/>
          </a:schemeClr>
        </a:solidFill>
        <a:ln w="12700" cap="flat" cmpd="sng" algn="ctr">
          <a:solidFill>
            <a:schemeClr val="accent2">
              <a:hueOff val="-7680245"/>
              <a:satOff val="65283"/>
              <a:lumOff val="18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20" tIns="12700" rIns="63820" bIns="1270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4</a:t>
          </a:r>
        </a:p>
      </dsp:txBody>
      <dsp:txXfrm>
        <a:off x="7120475" y="1204095"/>
        <a:ext cx="578829" cy="578829"/>
      </dsp:txXfrm>
    </dsp:sp>
    <dsp:sp modelId="{FF0ADAC7-0CA7-46AA-BD4B-7DE4C5B181C6}">
      <dsp:nvSpPr>
        <dsp:cNvPr id="0" name=""/>
        <dsp:cNvSpPr/>
      </dsp:nvSpPr>
      <dsp:spPr>
        <a:xfrm>
          <a:off x="6435378" y="3539913"/>
          <a:ext cx="1949023" cy="72"/>
        </a:xfrm>
        <a:prstGeom prst="rect">
          <a:avLst/>
        </a:prstGeom>
        <a:solidFill>
          <a:schemeClr val="accent2">
            <a:hueOff val="-8960285"/>
            <a:satOff val="76164"/>
            <a:lumOff val="2135"/>
            <a:alphaOff val="0"/>
          </a:schemeClr>
        </a:solidFill>
        <a:ln w="12700" cap="flat" cmpd="sng" algn="ctr">
          <a:solidFill>
            <a:schemeClr val="accent2">
              <a:hueOff val="-8960285"/>
              <a:satOff val="76164"/>
              <a:lumOff val="21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5EBB0-29CA-486C-93AB-2852737F248B}">
      <dsp:nvSpPr>
        <dsp:cNvPr id="0" name=""/>
        <dsp:cNvSpPr/>
      </dsp:nvSpPr>
      <dsp:spPr>
        <a:xfrm>
          <a:off x="8579304" y="811352"/>
          <a:ext cx="1949023" cy="2728633"/>
        </a:xfrm>
        <a:prstGeom prst="rect">
          <a:avLst/>
        </a:prstGeom>
        <a:solidFill>
          <a:schemeClr val="accent2">
            <a:tint val="40000"/>
            <a:alpha val="90000"/>
            <a:hueOff val="-12423086"/>
            <a:satOff val="98823"/>
            <a:lumOff val="57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2423086"/>
              <a:satOff val="98823"/>
              <a:lumOff val="57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953" tIns="330200" rIns="15195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Split the data into training and testing portions. </a:t>
          </a:r>
        </a:p>
      </dsp:txBody>
      <dsp:txXfrm>
        <a:off x="8579304" y="1848233"/>
        <a:ext cx="1949023" cy="1637179"/>
      </dsp:txXfrm>
    </dsp:sp>
    <dsp:sp modelId="{EA31ACC7-C3F8-47B7-8931-F35B8007C651}">
      <dsp:nvSpPr>
        <dsp:cNvPr id="0" name=""/>
        <dsp:cNvSpPr/>
      </dsp:nvSpPr>
      <dsp:spPr>
        <a:xfrm>
          <a:off x="9144521" y="1084215"/>
          <a:ext cx="818589" cy="818589"/>
        </a:xfrm>
        <a:prstGeom prst="ellipse">
          <a:avLst/>
        </a:prstGeom>
        <a:solidFill>
          <a:schemeClr val="accent2">
            <a:hueOff val="-10240326"/>
            <a:satOff val="87044"/>
            <a:lumOff val="2440"/>
            <a:alphaOff val="0"/>
          </a:schemeClr>
        </a:solidFill>
        <a:ln w="12700" cap="flat" cmpd="sng" algn="ctr">
          <a:solidFill>
            <a:schemeClr val="accent2">
              <a:hueOff val="-10240326"/>
              <a:satOff val="87044"/>
              <a:lumOff val="24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20" tIns="12700" rIns="63820" bIns="1270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5</a:t>
          </a:r>
        </a:p>
      </dsp:txBody>
      <dsp:txXfrm>
        <a:off x="9264401" y="1204095"/>
        <a:ext cx="578829" cy="578829"/>
      </dsp:txXfrm>
    </dsp:sp>
    <dsp:sp modelId="{D42B1139-8A5F-4626-AF2D-C46F3CFF182E}">
      <dsp:nvSpPr>
        <dsp:cNvPr id="0" name=""/>
        <dsp:cNvSpPr/>
      </dsp:nvSpPr>
      <dsp:spPr>
        <a:xfrm>
          <a:off x="8579304" y="3539913"/>
          <a:ext cx="1949023" cy="72"/>
        </a:xfrm>
        <a:prstGeom prst="rect">
          <a:avLst/>
        </a:prstGeom>
        <a:solidFill>
          <a:schemeClr val="accent2">
            <a:hueOff val="-11520367"/>
            <a:satOff val="97925"/>
            <a:lumOff val="2745"/>
            <a:alphaOff val="0"/>
          </a:schemeClr>
        </a:solidFill>
        <a:ln w="12700" cap="flat" cmpd="sng" algn="ctr">
          <a:solidFill>
            <a:schemeClr val="accent2">
              <a:hueOff val="-11520367"/>
              <a:satOff val="97925"/>
              <a:lumOff val="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mpl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A43C-8045-D04F-3EAF-274260496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991"/>
            <a:ext cx="10515600" cy="1099781"/>
          </a:xfrm>
        </p:spPr>
        <p:txBody>
          <a:bodyPr lIns="0" tIns="0" rIns="0" bIns="0" anchor="t" anchorCtr="0"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1A7AC-B84C-E3A0-08FD-B8307E6C31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718748"/>
            <a:ext cx="10515600" cy="4628081"/>
          </a:xfrm>
        </p:spPr>
        <p:txBody>
          <a:bodyPr lIns="0" tIns="0" rIns="0" bIns="91440"/>
          <a:lstStyle>
            <a:lvl1pPr>
              <a:lnSpc>
                <a:spcPct val="114000"/>
              </a:lnSpc>
              <a:spcAft>
                <a:spcPts val="600"/>
              </a:spcAft>
              <a:defRPr/>
            </a:lvl1pPr>
            <a:lvl2pPr>
              <a:lnSpc>
                <a:spcPct val="114000"/>
              </a:lnSpc>
              <a:spcAft>
                <a:spcPts val="600"/>
              </a:spcAft>
              <a:defRPr/>
            </a:lvl2pPr>
            <a:lvl3pPr>
              <a:lnSpc>
                <a:spcPct val="114000"/>
              </a:lnSpc>
              <a:spcAft>
                <a:spcPts val="600"/>
              </a:spcAft>
              <a:defRPr/>
            </a:lvl3pPr>
            <a:lvl4pPr>
              <a:lnSpc>
                <a:spcPct val="114000"/>
              </a:lnSpc>
              <a:spcAft>
                <a:spcPts val="600"/>
              </a:spcAft>
              <a:defRPr/>
            </a:lvl4pPr>
            <a:lvl5pPr>
              <a:lnSpc>
                <a:spcPct val="114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7EE0B8-C4FD-634B-D142-3AB8ADADB293}"/>
              </a:ext>
            </a:extLst>
          </p:cNvPr>
          <p:cNvGrpSpPr/>
          <p:nvPr userDrawn="1"/>
        </p:nvGrpSpPr>
        <p:grpSpPr>
          <a:xfrm>
            <a:off x="9430607" y="-13649"/>
            <a:ext cx="2787215" cy="906236"/>
            <a:chOff x="9430607" y="-13649"/>
            <a:chExt cx="2787215" cy="9062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A8F76A-990C-D9E7-B002-6244BD01BDD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669182" y="-13649"/>
              <a:ext cx="548640" cy="548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9A5E9A-72C8-2FBC-847D-1AD952D92CF0}"/>
                </a:ext>
              </a:extLst>
            </p:cNvPr>
            <p:cNvSpPr/>
            <p:nvPr userDrawn="1"/>
          </p:nvSpPr>
          <p:spPr>
            <a:xfrm>
              <a:off x="11303422" y="526827"/>
              <a:ext cx="365760" cy="365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623B01-49D6-082A-9D71-01DACE4172B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069473" y="302332"/>
              <a:ext cx="228600" cy="2286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069024A5-7D69-6712-1A1C-FEBD4C553E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30607" y="329629"/>
              <a:ext cx="1472749" cy="182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9420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A43C-8045-D04F-3EAF-274260496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34991"/>
            <a:ext cx="10459873" cy="132973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A8F76A-990C-D9E7-B002-6244BD01BDDC}"/>
              </a:ext>
            </a:extLst>
          </p:cNvPr>
          <p:cNvSpPr>
            <a:spLocks noChangeAspect="1"/>
          </p:cNvSpPr>
          <p:nvPr userDrawn="1"/>
        </p:nvSpPr>
        <p:spPr>
          <a:xfrm>
            <a:off x="11669182" y="-13649"/>
            <a:ext cx="548640" cy="548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9A5E9A-72C8-2FBC-847D-1AD952D92CF0}"/>
              </a:ext>
            </a:extLst>
          </p:cNvPr>
          <p:cNvSpPr/>
          <p:nvPr userDrawn="1"/>
        </p:nvSpPr>
        <p:spPr>
          <a:xfrm>
            <a:off x="11303422" y="526827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623B01-49D6-082A-9D71-01DACE4172B0}"/>
              </a:ext>
            </a:extLst>
          </p:cNvPr>
          <p:cNvSpPr>
            <a:spLocks noChangeAspect="1"/>
          </p:cNvSpPr>
          <p:nvPr userDrawn="1"/>
        </p:nvSpPr>
        <p:spPr>
          <a:xfrm>
            <a:off x="11069473" y="302332"/>
            <a:ext cx="228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69024A5-7D69-6712-1A1C-FEBD4C553E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0607" y="329629"/>
            <a:ext cx="1472749" cy="18288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503DE61-D5E4-964D-AB3D-EB378795C3F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838200" y="1892020"/>
            <a:ext cx="10459872" cy="857839"/>
          </a:xfrm>
          <a:noFill/>
        </p:spPr>
        <p:txBody>
          <a:bodyPr anchor="t">
            <a:normAutofit/>
          </a:bodyPr>
          <a:lstStyle>
            <a:lvl1pPr marL="0" indent="0" algn="l">
              <a:buNone/>
              <a:defRPr sz="2800" b="1">
                <a:solidFill>
                  <a:srgbClr val="D6172F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785525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A43C-8045-D04F-3EAF-274260496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991"/>
            <a:ext cx="10515600" cy="1099781"/>
          </a:xfrm>
        </p:spPr>
        <p:txBody>
          <a:bodyPr lIns="0" tIns="0" rIns="0" bIns="0" anchor="t" anchorCtr="0"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A8F76A-990C-D9E7-B002-6244BD01BDDC}"/>
              </a:ext>
            </a:extLst>
          </p:cNvPr>
          <p:cNvSpPr>
            <a:spLocks noChangeAspect="1"/>
          </p:cNvSpPr>
          <p:nvPr userDrawn="1"/>
        </p:nvSpPr>
        <p:spPr>
          <a:xfrm>
            <a:off x="11669182" y="-13649"/>
            <a:ext cx="548640" cy="548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9A5E9A-72C8-2FBC-847D-1AD952D92CF0}"/>
              </a:ext>
            </a:extLst>
          </p:cNvPr>
          <p:cNvSpPr/>
          <p:nvPr userDrawn="1"/>
        </p:nvSpPr>
        <p:spPr>
          <a:xfrm>
            <a:off x="11303422" y="526827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623B01-49D6-082A-9D71-01DACE4172B0}"/>
              </a:ext>
            </a:extLst>
          </p:cNvPr>
          <p:cNvSpPr>
            <a:spLocks noChangeAspect="1"/>
          </p:cNvSpPr>
          <p:nvPr userDrawn="1"/>
        </p:nvSpPr>
        <p:spPr>
          <a:xfrm>
            <a:off x="11069473" y="302332"/>
            <a:ext cx="228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69024A5-7D69-6712-1A1C-FEBD4C553E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0607" y="329629"/>
            <a:ext cx="1472749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2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word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A8F76A-990C-D9E7-B002-6244BD01BDDC}"/>
              </a:ext>
            </a:extLst>
          </p:cNvPr>
          <p:cNvSpPr>
            <a:spLocks noChangeAspect="1"/>
          </p:cNvSpPr>
          <p:nvPr userDrawn="1"/>
        </p:nvSpPr>
        <p:spPr>
          <a:xfrm>
            <a:off x="11669182" y="-13649"/>
            <a:ext cx="548640" cy="548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9A5E9A-72C8-2FBC-847D-1AD952D92CF0}"/>
              </a:ext>
            </a:extLst>
          </p:cNvPr>
          <p:cNvSpPr/>
          <p:nvPr userDrawn="1"/>
        </p:nvSpPr>
        <p:spPr>
          <a:xfrm>
            <a:off x="11303422" y="526827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623B01-49D6-082A-9D71-01DACE4172B0}"/>
              </a:ext>
            </a:extLst>
          </p:cNvPr>
          <p:cNvSpPr>
            <a:spLocks noChangeAspect="1"/>
          </p:cNvSpPr>
          <p:nvPr userDrawn="1"/>
        </p:nvSpPr>
        <p:spPr>
          <a:xfrm>
            <a:off x="11069473" y="302332"/>
            <a:ext cx="228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69024A5-7D69-6712-1A1C-FEBD4C553E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0607" y="329629"/>
            <a:ext cx="1472749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162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with sub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BB6B-7E7E-5571-8661-93FB2DAE9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82391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C595C-C14D-FF80-70FC-8616C2B2D8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279942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11397-2EF6-9D46-2F0A-3B22BF3DABB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103854"/>
            <a:ext cx="5157787" cy="4085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23958-CA18-9755-FE8F-9C5580194BA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279942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D2E76-B288-4F6A-4D16-EB58A6AF768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103854"/>
            <a:ext cx="5183188" cy="4085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FDB2AAD-2909-3CC7-68BF-29D2E5AB5C43}"/>
              </a:ext>
            </a:extLst>
          </p:cNvPr>
          <p:cNvGrpSpPr/>
          <p:nvPr userDrawn="1"/>
        </p:nvGrpSpPr>
        <p:grpSpPr>
          <a:xfrm>
            <a:off x="9430607" y="-13649"/>
            <a:ext cx="2787215" cy="906236"/>
            <a:chOff x="9430607" y="-13649"/>
            <a:chExt cx="2787215" cy="90623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54C94D-459A-56EC-62E4-00C4894DEA3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669182" y="-13649"/>
              <a:ext cx="548640" cy="548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8D786BC-64F6-5A1A-9209-673B34D02AA3}"/>
                </a:ext>
              </a:extLst>
            </p:cNvPr>
            <p:cNvSpPr/>
            <p:nvPr userDrawn="1"/>
          </p:nvSpPr>
          <p:spPr>
            <a:xfrm>
              <a:off x="11303422" y="526827"/>
              <a:ext cx="365760" cy="365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768FE3D-E3E3-C833-6444-41DBF18503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069473" y="302332"/>
              <a:ext cx="228600" cy="2286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4ED012CF-2E84-EEC5-14FF-E8EFB7DB84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30607" y="329629"/>
              <a:ext cx="1472749" cy="182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088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lumn with sub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BB6B-7E7E-5571-8661-93FB2DAE9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82391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C595C-C14D-FF80-70FC-8616C2B2D8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279942"/>
            <a:ext cx="5157787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11397-2EF6-9D46-2F0A-3B22BF3DABB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103854"/>
            <a:ext cx="5157787" cy="4085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FDB2AAD-2909-3CC7-68BF-29D2E5AB5C43}"/>
              </a:ext>
            </a:extLst>
          </p:cNvPr>
          <p:cNvGrpSpPr/>
          <p:nvPr userDrawn="1"/>
        </p:nvGrpSpPr>
        <p:grpSpPr>
          <a:xfrm>
            <a:off x="9430607" y="-13649"/>
            <a:ext cx="2787215" cy="906236"/>
            <a:chOff x="9430607" y="-13649"/>
            <a:chExt cx="2787215" cy="90623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54C94D-459A-56EC-62E4-00C4894DEA3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669182" y="-13649"/>
              <a:ext cx="548640" cy="548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8D786BC-64F6-5A1A-9209-673B34D02AA3}"/>
                </a:ext>
              </a:extLst>
            </p:cNvPr>
            <p:cNvSpPr/>
            <p:nvPr userDrawn="1"/>
          </p:nvSpPr>
          <p:spPr>
            <a:xfrm>
              <a:off x="11303422" y="526827"/>
              <a:ext cx="365760" cy="365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768FE3D-E3E3-C833-6444-41DBF18503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069473" y="302332"/>
              <a:ext cx="228600" cy="2286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4ED012CF-2E84-EEC5-14FF-E8EFB7DB84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30607" y="329629"/>
              <a:ext cx="1472749" cy="182880"/>
            </a:xfrm>
            <a:prstGeom prst="rect">
              <a:avLst/>
            </a:prstGeom>
          </p:spPr>
        </p:pic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BFF445B-A0A6-0E36-0FE7-012F17BD6D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BE27F31-BD66-A49C-9735-B64BE5826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99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(2 subtitle level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BB6B-7E7E-5571-8661-93FB2DAE9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34991"/>
            <a:ext cx="10515600" cy="653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C595C-C14D-FF80-70FC-8616C2B2D8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806332"/>
            <a:ext cx="5157787" cy="65340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11397-2EF6-9D46-2F0A-3B22BF3DABB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459732"/>
            <a:ext cx="5157787" cy="4085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23958-CA18-9755-FE8F-9C5580194BA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806330"/>
            <a:ext cx="5183188" cy="65340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D2E76-B288-4F6A-4D16-EB58A6AF768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459732"/>
            <a:ext cx="5183188" cy="4085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ADB2ACF-85CA-2BFA-1DF5-D1984F606F9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838200" y="1218214"/>
            <a:ext cx="10515600" cy="588116"/>
          </a:xfrm>
          <a:noFill/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637B95-C4E6-6F99-8476-B3A2BF3FA5FB}"/>
              </a:ext>
            </a:extLst>
          </p:cNvPr>
          <p:cNvGrpSpPr/>
          <p:nvPr userDrawn="1"/>
        </p:nvGrpSpPr>
        <p:grpSpPr>
          <a:xfrm>
            <a:off x="9430607" y="-13649"/>
            <a:ext cx="2787215" cy="906236"/>
            <a:chOff x="9430607" y="-13649"/>
            <a:chExt cx="2787215" cy="90623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46F855-C44C-D009-3F25-777EECFC60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669182" y="-13649"/>
              <a:ext cx="548640" cy="548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CC9DE09-E9A4-1BF8-36CD-0846ACA7294E}"/>
                </a:ext>
              </a:extLst>
            </p:cNvPr>
            <p:cNvSpPr/>
            <p:nvPr userDrawn="1"/>
          </p:nvSpPr>
          <p:spPr>
            <a:xfrm>
              <a:off x="11303422" y="526827"/>
              <a:ext cx="365760" cy="365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CB66339-BE82-31F2-1294-6AF6B38F1D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069473" y="302332"/>
              <a:ext cx="228600" cy="2286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D597C5D-53A2-BF41-A54E-F6BD96F805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30607" y="329629"/>
              <a:ext cx="1472749" cy="182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4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 and callou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BB6B-7E7E-5571-8661-93FB2DAE9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36308"/>
            <a:ext cx="10515600" cy="653400"/>
          </a:xfrm>
        </p:spPr>
        <p:txBody>
          <a:bodyPr lIns="0" tIns="0" rIns="0" bIns="0" anchor="t" anchorCtr="0"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11397-2EF6-9D46-2F0A-3B22BF3DABB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1837471"/>
            <a:ext cx="5256212" cy="4709388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23958-CA18-9755-FE8F-9C5580194BA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755642" y="1807647"/>
            <a:ext cx="4596570" cy="3621678"/>
          </a:xfrm>
          <a:solidFill>
            <a:schemeClr val="accent3">
              <a:lumMod val="40000"/>
              <a:lumOff val="60000"/>
            </a:schemeClr>
          </a:solidFill>
        </p:spPr>
        <p:txBody>
          <a:bodyPr lIns="182880" tIns="182880" rIns="182880" bIns="182880" anchor="ctr"/>
          <a:lstStyle>
            <a:lvl1pPr marL="0" indent="0" algn="ctr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Call-out box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ADB2ACF-85CA-2BFA-1DF5-D1984F606F9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838200" y="1219531"/>
            <a:ext cx="10515600" cy="588116"/>
          </a:xfrm>
          <a:noFill/>
        </p:spPr>
        <p:txBody>
          <a:bodyPr lIns="0" tIns="0" rIns="0" bIns="0" anchor="t"/>
          <a:lstStyle>
            <a:lvl1pPr marL="0" indent="0" algn="l">
              <a:buNone/>
              <a:defRPr sz="24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637B95-C4E6-6F99-8476-B3A2BF3FA5FB}"/>
              </a:ext>
            </a:extLst>
          </p:cNvPr>
          <p:cNvGrpSpPr/>
          <p:nvPr userDrawn="1"/>
        </p:nvGrpSpPr>
        <p:grpSpPr>
          <a:xfrm>
            <a:off x="9430607" y="-13649"/>
            <a:ext cx="2787215" cy="906236"/>
            <a:chOff x="9430607" y="-13649"/>
            <a:chExt cx="2787215" cy="90623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46F855-C44C-D009-3F25-777EECFC60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669182" y="-13649"/>
              <a:ext cx="548640" cy="548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CC9DE09-E9A4-1BF8-36CD-0846ACA7294E}"/>
                </a:ext>
              </a:extLst>
            </p:cNvPr>
            <p:cNvSpPr/>
            <p:nvPr userDrawn="1"/>
          </p:nvSpPr>
          <p:spPr>
            <a:xfrm>
              <a:off x="11303422" y="526827"/>
              <a:ext cx="365760" cy="365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CB66339-BE82-31F2-1294-6AF6B38F1D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069473" y="302332"/>
              <a:ext cx="228600" cy="2286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D597C5D-53A2-BF41-A54E-F6BD96F805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30607" y="329629"/>
              <a:ext cx="1472749" cy="182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9152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BB6B-7E7E-5571-8661-93FB2DAE9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36303"/>
            <a:ext cx="10515600" cy="653400"/>
          </a:xfrm>
        </p:spPr>
        <p:txBody>
          <a:bodyPr lIns="0" tIns="0" rIns="0" bIns="0" anchor="t" anchorCtr="0"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11397-2EF6-9D46-2F0A-3B22BF3DABB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1837466"/>
            <a:ext cx="10514012" cy="4709388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ADB2ACF-85CA-2BFA-1DF5-D1984F606F9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838200" y="1219526"/>
            <a:ext cx="10515600" cy="588116"/>
          </a:xfrm>
          <a:noFill/>
        </p:spPr>
        <p:txBody>
          <a:bodyPr lIns="0" tIns="0" rIns="0" bIns="0" anchor="t"/>
          <a:lstStyle>
            <a:lvl1pPr marL="0" indent="0" algn="l">
              <a:buNone/>
              <a:defRPr sz="24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637B95-C4E6-6F99-8476-B3A2BF3FA5FB}"/>
              </a:ext>
            </a:extLst>
          </p:cNvPr>
          <p:cNvGrpSpPr/>
          <p:nvPr userDrawn="1"/>
        </p:nvGrpSpPr>
        <p:grpSpPr>
          <a:xfrm>
            <a:off x="9430607" y="-13649"/>
            <a:ext cx="2787215" cy="906236"/>
            <a:chOff x="9430607" y="-13649"/>
            <a:chExt cx="2787215" cy="90623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46F855-C44C-D009-3F25-777EECFC60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669182" y="-13649"/>
              <a:ext cx="548640" cy="548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CC9DE09-E9A4-1BF8-36CD-0846ACA7294E}"/>
                </a:ext>
              </a:extLst>
            </p:cNvPr>
            <p:cNvSpPr/>
            <p:nvPr userDrawn="1"/>
          </p:nvSpPr>
          <p:spPr>
            <a:xfrm>
              <a:off x="11303422" y="526827"/>
              <a:ext cx="365760" cy="3657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CB66339-BE82-31F2-1294-6AF6B38F1D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069473" y="302332"/>
              <a:ext cx="228600" cy="2286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D597C5D-53A2-BF41-A54E-F6BD96F805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30607" y="329629"/>
              <a:ext cx="1472749" cy="182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9887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Feature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A8F76A-990C-D9E7-B002-6244BD01BDDC}"/>
              </a:ext>
            </a:extLst>
          </p:cNvPr>
          <p:cNvSpPr>
            <a:spLocks noChangeAspect="1"/>
          </p:cNvSpPr>
          <p:nvPr userDrawn="1"/>
        </p:nvSpPr>
        <p:spPr>
          <a:xfrm>
            <a:off x="11669182" y="-13649"/>
            <a:ext cx="548640" cy="548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9A5E9A-72C8-2FBC-847D-1AD952D92CF0}"/>
              </a:ext>
            </a:extLst>
          </p:cNvPr>
          <p:cNvSpPr/>
          <p:nvPr userDrawn="1"/>
        </p:nvSpPr>
        <p:spPr>
          <a:xfrm>
            <a:off x="11303422" y="526827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623B01-49D6-082A-9D71-01DACE4172B0}"/>
              </a:ext>
            </a:extLst>
          </p:cNvPr>
          <p:cNvSpPr>
            <a:spLocks noChangeAspect="1"/>
          </p:cNvSpPr>
          <p:nvPr userDrawn="1"/>
        </p:nvSpPr>
        <p:spPr>
          <a:xfrm>
            <a:off x="11069473" y="302332"/>
            <a:ext cx="228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69024A5-7D69-6712-1A1C-FEBD4C553E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0607" y="329629"/>
            <a:ext cx="1472749" cy="18288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91C5999-DA03-635D-4931-7989731C01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9363" y="-14288"/>
            <a:ext cx="6910388" cy="6872288"/>
          </a:xfrm>
          <a:custGeom>
            <a:avLst/>
            <a:gdLst>
              <a:gd name="connsiteX0" fmla="*/ 5244885 w 6910388"/>
              <a:gd name="connsiteY0" fmla="*/ 5968520 h 6872288"/>
              <a:gd name="connsiteX1" fmla="*/ 5244885 w 6910388"/>
              <a:gd name="connsiteY1" fmla="*/ 6242840 h 6872288"/>
              <a:gd name="connsiteX2" fmla="*/ 5519205 w 6910388"/>
              <a:gd name="connsiteY2" fmla="*/ 6242840 h 6872288"/>
              <a:gd name="connsiteX3" fmla="*/ 5519205 w 6910388"/>
              <a:gd name="connsiteY3" fmla="*/ 5968520 h 6872288"/>
              <a:gd name="connsiteX4" fmla="*/ 0 w 6910388"/>
              <a:gd name="connsiteY4" fmla="*/ 0 h 6872288"/>
              <a:gd name="connsiteX5" fmla="*/ 6910388 w 6910388"/>
              <a:gd name="connsiteY5" fmla="*/ 0 h 6872288"/>
              <a:gd name="connsiteX6" fmla="*/ 6910388 w 6910388"/>
              <a:gd name="connsiteY6" fmla="*/ 5968520 h 6872288"/>
              <a:gd name="connsiteX7" fmla="*/ 6010647 w 6910388"/>
              <a:gd name="connsiteY7" fmla="*/ 5968520 h 6872288"/>
              <a:gd name="connsiteX8" fmla="*/ 6010647 w 6910388"/>
              <a:gd name="connsiteY8" fmla="*/ 5478928 h 6872288"/>
              <a:gd name="connsiteX9" fmla="*/ 5521055 w 6910388"/>
              <a:gd name="connsiteY9" fmla="*/ 5478928 h 6872288"/>
              <a:gd name="connsiteX10" fmla="*/ 5521055 w 6910388"/>
              <a:gd name="connsiteY10" fmla="*/ 5968520 h 6872288"/>
              <a:gd name="connsiteX11" fmla="*/ 6010647 w 6910388"/>
              <a:gd name="connsiteY11" fmla="*/ 5968520 h 6872288"/>
              <a:gd name="connsiteX12" fmla="*/ 6010647 w 6910388"/>
              <a:gd name="connsiteY12" fmla="*/ 6872288 h 6872288"/>
              <a:gd name="connsiteX13" fmla="*/ 0 w 6910388"/>
              <a:gd name="connsiteY13" fmla="*/ 6872288 h 6872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910388" h="6872288">
                <a:moveTo>
                  <a:pt x="5244885" y="5968520"/>
                </a:moveTo>
                <a:lnTo>
                  <a:pt x="5244885" y="6242840"/>
                </a:lnTo>
                <a:lnTo>
                  <a:pt x="5519205" y="6242840"/>
                </a:lnTo>
                <a:lnTo>
                  <a:pt x="5519205" y="5968520"/>
                </a:lnTo>
                <a:close/>
                <a:moveTo>
                  <a:pt x="0" y="0"/>
                </a:moveTo>
                <a:lnTo>
                  <a:pt x="6910388" y="0"/>
                </a:lnTo>
                <a:lnTo>
                  <a:pt x="6910388" y="5968520"/>
                </a:lnTo>
                <a:lnTo>
                  <a:pt x="6010647" y="5968520"/>
                </a:lnTo>
                <a:lnTo>
                  <a:pt x="6010647" y="5478928"/>
                </a:lnTo>
                <a:lnTo>
                  <a:pt x="5521055" y="5478928"/>
                </a:lnTo>
                <a:lnTo>
                  <a:pt x="5521055" y="5968520"/>
                </a:lnTo>
                <a:lnTo>
                  <a:pt x="6010647" y="5968520"/>
                </a:lnTo>
                <a:lnTo>
                  <a:pt x="6010647" y="6872288"/>
                </a:lnTo>
                <a:lnTo>
                  <a:pt x="0" y="68722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8E362CD-4121-272F-BA0B-9FFAC41A47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74687" y="1042372"/>
            <a:ext cx="4194495" cy="1099781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36A0603-9E9E-636C-3FFC-8B2F8349731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688" y="2222500"/>
            <a:ext cx="4019107" cy="39973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Feature Text</a:t>
            </a:r>
          </a:p>
        </p:txBody>
      </p:sp>
    </p:spTree>
    <p:extLst>
      <p:ext uri="{BB962C8B-B14F-4D97-AF65-F5344CB8AC3E}">
        <p14:creationId xmlns:p14="http://schemas.microsoft.com/office/powerpoint/2010/main" val="270191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Featu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A8F76A-990C-D9E7-B002-6244BD01BDDC}"/>
              </a:ext>
            </a:extLst>
          </p:cNvPr>
          <p:cNvSpPr>
            <a:spLocks noChangeAspect="1"/>
          </p:cNvSpPr>
          <p:nvPr userDrawn="1"/>
        </p:nvSpPr>
        <p:spPr>
          <a:xfrm>
            <a:off x="11669182" y="-13649"/>
            <a:ext cx="548640" cy="548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9A5E9A-72C8-2FBC-847D-1AD952D92CF0}"/>
              </a:ext>
            </a:extLst>
          </p:cNvPr>
          <p:cNvSpPr/>
          <p:nvPr userDrawn="1"/>
        </p:nvSpPr>
        <p:spPr>
          <a:xfrm>
            <a:off x="11303422" y="526827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623B01-49D6-082A-9D71-01DACE4172B0}"/>
              </a:ext>
            </a:extLst>
          </p:cNvPr>
          <p:cNvSpPr>
            <a:spLocks noChangeAspect="1"/>
          </p:cNvSpPr>
          <p:nvPr userDrawn="1"/>
        </p:nvSpPr>
        <p:spPr>
          <a:xfrm>
            <a:off x="11069473" y="302332"/>
            <a:ext cx="228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69024A5-7D69-6712-1A1C-FEBD4C553E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0607" y="329629"/>
            <a:ext cx="1472749" cy="18288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91C5999-DA03-635D-4931-7989731C01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9363" y="-14288"/>
            <a:ext cx="6910388" cy="6872288"/>
          </a:xfrm>
          <a:custGeom>
            <a:avLst/>
            <a:gdLst>
              <a:gd name="connsiteX0" fmla="*/ 5244885 w 6910388"/>
              <a:gd name="connsiteY0" fmla="*/ 5968520 h 6872288"/>
              <a:gd name="connsiteX1" fmla="*/ 5244885 w 6910388"/>
              <a:gd name="connsiteY1" fmla="*/ 6242840 h 6872288"/>
              <a:gd name="connsiteX2" fmla="*/ 5519205 w 6910388"/>
              <a:gd name="connsiteY2" fmla="*/ 6242840 h 6872288"/>
              <a:gd name="connsiteX3" fmla="*/ 5519205 w 6910388"/>
              <a:gd name="connsiteY3" fmla="*/ 5968520 h 6872288"/>
              <a:gd name="connsiteX4" fmla="*/ 0 w 6910388"/>
              <a:gd name="connsiteY4" fmla="*/ 0 h 6872288"/>
              <a:gd name="connsiteX5" fmla="*/ 6910388 w 6910388"/>
              <a:gd name="connsiteY5" fmla="*/ 0 h 6872288"/>
              <a:gd name="connsiteX6" fmla="*/ 6910388 w 6910388"/>
              <a:gd name="connsiteY6" fmla="*/ 5968520 h 6872288"/>
              <a:gd name="connsiteX7" fmla="*/ 6010647 w 6910388"/>
              <a:gd name="connsiteY7" fmla="*/ 5968520 h 6872288"/>
              <a:gd name="connsiteX8" fmla="*/ 6010647 w 6910388"/>
              <a:gd name="connsiteY8" fmla="*/ 5478928 h 6872288"/>
              <a:gd name="connsiteX9" fmla="*/ 5521055 w 6910388"/>
              <a:gd name="connsiteY9" fmla="*/ 5478928 h 6872288"/>
              <a:gd name="connsiteX10" fmla="*/ 5521055 w 6910388"/>
              <a:gd name="connsiteY10" fmla="*/ 5968520 h 6872288"/>
              <a:gd name="connsiteX11" fmla="*/ 6010647 w 6910388"/>
              <a:gd name="connsiteY11" fmla="*/ 5968520 h 6872288"/>
              <a:gd name="connsiteX12" fmla="*/ 6010647 w 6910388"/>
              <a:gd name="connsiteY12" fmla="*/ 6872288 h 6872288"/>
              <a:gd name="connsiteX13" fmla="*/ 0 w 6910388"/>
              <a:gd name="connsiteY13" fmla="*/ 6872288 h 6872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910388" h="6872288">
                <a:moveTo>
                  <a:pt x="5244885" y="5968520"/>
                </a:moveTo>
                <a:lnTo>
                  <a:pt x="5244885" y="6242840"/>
                </a:lnTo>
                <a:lnTo>
                  <a:pt x="5519205" y="6242840"/>
                </a:lnTo>
                <a:lnTo>
                  <a:pt x="5519205" y="5968520"/>
                </a:lnTo>
                <a:close/>
                <a:moveTo>
                  <a:pt x="0" y="0"/>
                </a:moveTo>
                <a:lnTo>
                  <a:pt x="6910388" y="0"/>
                </a:lnTo>
                <a:lnTo>
                  <a:pt x="6910388" y="5968520"/>
                </a:lnTo>
                <a:lnTo>
                  <a:pt x="6010647" y="5968520"/>
                </a:lnTo>
                <a:lnTo>
                  <a:pt x="6010647" y="5478928"/>
                </a:lnTo>
                <a:lnTo>
                  <a:pt x="5521055" y="5478928"/>
                </a:lnTo>
                <a:lnTo>
                  <a:pt x="5521055" y="5968520"/>
                </a:lnTo>
                <a:lnTo>
                  <a:pt x="6010647" y="5968520"/>
                </a:lnTo>
                <a:lnTo>
                  <a:pt x="6010647" y="6872288"/>
                </a:lnTo>
                <a:lnTo>
                  <a:pt x="0" y="68722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84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, headline and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99C5AA2-FFA3-8A9E-FE5E-DD4F7ABAC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5943343 h 6858000"/>
              <a:gd name="connsiteX3" fmla="*/ 11279793 w 12192000"/>
              <a:gd name="connsiteY3" fmla="*/ 5943343 h 6858000"/>
              <a:gd name="connsiteX4" fmla="*/ 11279793 w 12192000"/>
              <a:gd name="connsiteY4" fmla="*/ 5331988 h 6858000"/>
              <a:gd name="connsiteX5" fmla="*/ 10664566 w 12192000"/>
              <a:gd name="connsiteY5" fmla="*/ 5331988 h 6858000"/>
              <a:gd name="connsiteX6" fmla="*/ 10664566 w 12192000"/>
              <a:gd name="connsiteY6" fmla="*/ 5943202 h 6858000"/>
              <a:gd name="connsiteX7" fmla="*/ 10281685 w 12192000"/>
              <a:gd name="connsiteY7" fmla="*/ 5943202 h 6858000"/>
              <a:gd name="connsiteX8" fmla="*/ 10281685 w 12192000"/>
              <a:gd name="connsiteY8" fmla="*/ 6327719 h 6858000"/>
              <a:gd name="connsiteX9" fmla="*/ 10666202 w 12192000"/>
              <a:gd name="connsiteY9" fmla="*/ 6327719 h 6858000"/>
              <a:gd name="connsiteX10" fmla="*/ 10666202 w 12192000"/>
              <a:gd name="connsiteY10" fmla="*/ 5947215 h 6858000"/>
              <a:gd name="connsiteX11" fmla="*/ 11279793 w 12192000"/>
              <a:gd name="connsiteY11" fmla="*/ 5947215 h 6858000"/>
              <a:gd name="connsiteX12" fmla="*/ 1127979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5943343"/>
                </a:lnTo>
                <a:lnTo>
                  <a:pt x="11279793" y="5943343"/>
                </a:lnTo>
                <a:lnTo>
                  <a:pt x="11279793" y="5331988"/>
                </a:lnTo>
                <a:lnTo>
                  <a:pt x="10664566" y="5331988"/>
                </a:lnTo>
                <a:lnTo>
                  <a:pt x="10664566" y="5943202"/>
                </a:lnTo>
                <a:lnTo>
                  <a:pt x="10281685" y="5943202"/>
                </a:lnTo>
                <a:lnTo>
                  <a:pt x="10281685" y="6327719"/>
                </a:lnTo>
                <a:lnTo>
                  <a:pt x="10666202" y="6327719"/>
                </a:lnTo>
                <a:lnTo>
                  <a:pt x="10666202" y="5947215"/>
                </a:lnTo>
                <a:lnTo>
                  <a:pt x="11279793" y="5947215"/>
                </a:lnTo>
                <a:lnTo>
                  <a:pt x="11279793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900CB8C-F8BC-8748-AEBF-91EC7110F0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5066" y="6285840"/>
            <a:ext cx="752133" cy="350271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C364F0A8-C279-55F0-C2F1-4A9CC6B5F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5B227E-2956-43F5-858E-A969454668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486529"/>
            <a:ext cx="4700588" cy="3702159"/>
          </a:xfrm>
        </p:spPr>
        <p:txBody>
          <a:bodyPr rIns="274320" anchor="ctr"/>
          <a:lstStyle>
            <a:lvl1pPr marL="0" indent="0">
              <a:buNone/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2E8C2B3-C562-9DBA-C03F-74326D88F9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38787" y="1485900"/>
            <a:ext cx="4987445" cy="4308844"/>
          </a:xfrm>
        </p:spPr>
        <p:txBody>
          <a:bodyPr lIns="274320" anchor="ctr"/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862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, 2 subtitle lev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61358D6D-13CF-B4FF-00D4-C61E63B2CC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2560" y="-13649"/>
            <a:ext cx="5859440" cy="6871649"/>
          </a:xfrm>
          <a:custGeom>
            <a:avLst/>
            <a:gdLst>
              <a:gd name="connsiteX0" fmla="*/ 0 w 5859440"/>
              <a:gd name="connsiteY0" fmla="*/ 5330923 h 6871649"/>
              <a:gd name="connsiteX1" fmla="*/ 446686 w 5859440"/>
              <a:gd name="connsiteY1" fmla="*/ 5330923 h 6871649"/>
              <a:gd name="connsiteX2" fmla="*/ 446686 w 5859440"/>
              <a:gd name="connsiteY2" fmla="*/ 5861883 h 6871649"/>
              <a:gd name="connsiteX3" fmla="*/ 0 w 5859440"/>
              <a:gd name="connsiteY3" fmla="*/ 5861883 h 6871649"/>
              <a:gd name="connsiteX4" fmla="*/ 453789 w 5859440"/>
              <a:gd name="connsiteY4" fmla="*/ 5110479 h 6871649"/>
              <a:gd name="connsiteX5" fmla="*/ 636669 w 5859440"/>
              <a:gd name="connsiteY5" fmla="*/ 5110479 h 6871649"/>
              <a:gd name="connsiteX6" fmla="*/ 636669 w 5859440"/>
              <a:gd name="connsiteY6" fmla="*/ 5320650 h 6871649"/>
              <a:gd name="connsiteX7" fmla="*/ 453789 w 5859440"/>
              <a:gd name="connsiteY7" fmla="*/ 5320650 h 6871649"/>
              <a:gd name="connsiteX8" fmla="*/ 5112998 w 5859440"/>
              <a:gd name="connsiteY8" fmla="*/ 182205 h 6871649"/>
              <a:gd name="connsiteX9" fmla="*/ 5112998 w 5859440"/>
              <a:gd name="connsiteY9" fmla="*/ 776535 h 6871649"/>
              <a:gd name="connsiteX10" fmla="*/ 5697894 w 5859440"/>
              <a:gd name="connsiteY10" fmla="*/ 776535 h 6871649"/>
              <a:gd name="connsiteX11" fmla="*/ 5697894 w 5859440"/>
              <a:gd name="connsiteY11" fmla="*/ 182205 h 6871649"/>
              <a:gd name="connsiteX12" fmla="*/ 1136178 w 5859440"/>
              <a:gd name="connsiteY12" fmla="*/ 0 h 6871649"/>
              <a:gd name="connsiteX13" fmla="*/ 5859440 w 5859440"/>
              <a:gd name="connsiteY13" fmla="*/ 0 h 6871649"/>
              <a:gd name="connsiteX14" fmla="*/ 5859440 w 5859440"/>
              <a:gd name="connsiteY14" fmla="*/ 6871649 h 6871649"/>
              <a:gd name="connsiteX15" fmla="*/ 457200 w 5859440"/>
              <a:gd name="connsiteY15" fmla="*/ 6871649 h 6871649"/>
              <a:gd name="connsiteX16" fmla="*/ 457200 w 5859440"/>
              <a:gd name="connsiteY16" fmla="*/ 5861883 h 6871649"/>
              <a:gd name="connsiteX17" fmla="*/ 1136178 w 5859440"/>
              <a:gd name="connsiteY17" fmla="*/ 5861883 h 6871649"/>
              <a:gd name="connsiteX18" fmla="*/ 1136178 w 5859440"/>
              <a:gd name="connsiteY18" fmla="*/ 5330923 h 6871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859440" h="6871649">
                <a:moveTo>
                  <a:pt x="0" y="5330923"/>
                </a:moveTo>
                <a:lnTo>
                  <a:pt x="446686" y="5330923"/>
                </a:lnTo>
                <a:lnTo>
                  <a:pt x="446686" y="5861883"/>
                </a:lnTo>
                <a:lnTo>
                  <a:pt x="0" y="5861883"/>
                </a:lnTo>
                <a:close/>
                <a:moveTo>
                  <a:pt x="453789" y="5110479"/>
                </a:moveTo>
                <a:lnTo>
                  <a:pt x="636669" y="5110479"/>
                </a:lnTo>
                <a:lnTo>
                  <a:pt x="636669" y="5320650"/>
                </a:lnTo>
                <a:lnTo>
                  <a:pt x="453789" y="5320650"/>
                </a:lnTo>
                <a:close/>
                <a:moveTo>
                  <a:pt x="5112998" y="182205"/>
                </a:moveTo>
                <a:lnTo>
                  <a:pt x="5112998" y="776535"/>
                </a:lnTo>
                <a:lnTo>
                  <a:pt x="5697894" y="776535"/>
                </a:lnTo>
                <a:lnTo>
                  <a:pt x="5697894" y="182205"/>
                </a:lnTo>
                <a:close/>
                <a:moveTo>
                  <a:pt x="1136178" y="0"/>
                </a:moveTo>
                <a:lnTo>
                  <a:pt x="5859440" y="0"/>
                </a:lnTo>
                <a:lnTo>
                  <a:pt x="5859440" y="6871649"/>
                </a:lnTo>
                <a:lnTo>
                  <a:pt x="457200" y="6871649"/>
                </a:lnTo>
                <a:lnTo>
                  <a:pt x="457200" y="5861883"/>
                </a:lnTo>
                <a:lnTo>
                  <a:pt x="1136178" y="5861883"/>
                </a:lnTo>
                <a:lnTo>
                  <a:pt x="1136178" y="533092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3BB6B-7E7E-5571-8661-93FB2DAE9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65721"/>
            <a:ext cx="5256212" cy="853724"/>
          </a:xfrm>
        </p:spPr>
        <p:txBody>
          <a:bodyPr>
            <a:no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C595C-C14D-FF80-70FC-8616C2B2D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935281"/>
            <a:ext cx="5256212" cy="455180"/>
          </a:xfrm>
        </p:spPr>
        <p:txBody>
          <a:bodyPr anchor="b">
            <a:norm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11397-2EF6-9D46-2F0A-3B22BF3DA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15654"/>
            <a:ext cx="5256212" cy="397367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ADB2ACF-85CA-2BFA-1DF5-D1984F606F9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838201" y="1344637"/>
            <a:ext cx="5256212" cy="590643"/>
          </a:xfrm>
          <a:noFill/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506725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e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61358D6D-13CF-B4FF-00D4-C61E63B2CCD3}"/>
              </a:ext>
            </a:extLst>
          </p:cNvPr>
          <p:cNvSpPr>
            <a:spLocks noGrp="1"/>
          </p:cNvSpPr>
          <p:nvPr userDrawn="1">
            <p:ph type="pic" sz="quarter" idx="14"/>
          </p:nvPr>
        </p:nvSpPr>
        <p:spPr>
          <a:xfrm>
            <a:off x="6332560" y="0"/>
            <a:ext cx="5859440" cy="6871649"/>
          </a:xfrm>
          <a:custGeom>
            <a:avLst/>
            <a:gdLst>
              <a:gd name="connsiteX0" fmla="*/ 0 w 5859440"/>
              <a:gd name="connsiteY0" fmla="*/ 5330923 h 6871649"/>
              <a:gd name="connsiteX1" fmla="*/ 446686 w 5859440"/>
              <a:gd name="connsiteY1" fmla="*/ 5330923 h 6871649"/>
              <a:gd name="connsiteX2" fmla="*/ 446686 w 5859440"/>
              <a:gd name="connsiteY2" fmla="*/ 5861883 h 6871649"/>
              <a:gd name="connsiteX3" fmla="*/ 0 w 5859440"/>
              <a:gd name="connsiteY3" fmla="*/ 5861883 h 6871649"/>
              <a:gd name="connsiteX4" fmla="*/ 453789 w 5859440"/>
              <a:gd name="connsiteY4" fmla="*/ 5110479 h 6871649"/>
              <a:gd name="connsiteX5" fmla="*/ 636669 w 5859440"/>
              <a:gd name="connsiteY5" fmla="*/ 5110479 h 6871649"/>
              <a:gd name="connsiteX6" fmla="*/ 636669 w 5859440"/>
              <a:gd name="connsiteY6" fmla="*/ 5320650 h 6871649"/>
              <a:gd name="connsiteX7" fmla="*/ 453789 w 5859440"/>
              <a:gd name="connsiteY7" fmla="*/ 5320650 h 6871649"/>
              <a:gd name="connsiteX8" fmla="*/ 5112998 w 5859440"/>
              <a:gd name="connsiteY8" fmla="*/ 182205 h 6871649"/>
              <a:gd name="connsiteX9" fmla="*/ 5112998 w 5859440"/>
              <a:gd name="connsiteY9" fmla="*/ 776535 h 6871649"/>
              <a:gd name="connsiteX10" fmla="*/ 5697894 w 5859440"/>
              <a:gd name="connsiteY10" fmla="*/ 776535 h 6871649"/>
              <a:gd name="connsiteX11" fmla="*/ 5697894 w 5859440"/>
              <a:gd name="connsiteY11" fmla="*/ 182205 h 6871649"/>
              <a:gd name="connsiteX12" fmla="*/ 1136178 w 5859440"/>
              <a:gd name="connsiteY12" fmla="*/ 0 h 6871649"/>
              <a:gd name="connsiteX13" fmla="*/ 5859440 w 5859440"/>
              <a:gd name="connsiteY13" fmla="*/ 0 h 6871649"/>
              <a:gd name="connsiteX14" fmla="*/ 5859440 w 5859440"/>
              <a:gd name="connsiteY14" fmla="*/ 6871649 h 6871649"/>
              <a:gd name="connsiteX15" fmla="*/ 457200 w 5859440"/>
              <a:gd name="connsiteY15" fmla="*/ 6871649 h 6871649"/>
              <a:gd name="connsiteX16" fmla="*/ 457200 w 5859440"/>
              <a:gd name="connsiteY16" fmla="*/ 5861883 h 6871649"/>
              <a:gd name="connsiteX17" fmla="*/ 1136178 w 5859440"/>
              <a:gd name="connsiteY17" fmla="*/ 5861883 h 6871649"/>
              <a:gd name="connsiteX18" fmla="*/ 1136178 w 5859440"/>
              <a:gd name="connsiteY18" fmla="*/ 5330923 h 6871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859440" h="6871649">
                <a:moveTo>
                  <a:pt x="0" y="5330923"/>
                </a:moveTo>
                <a:lnTo>
                  <a:pt x="446686" y="5330923"/>
                </a:lnTo>
                <a:lnTo>
                  <a:pt x="446686" y="5861883"/>
                </a:lnTo>
                <a:lnTo>
                  <a:pt x="0" y="5861883"/>
                </a:lnTo>
                <a:close/>
                <a:moveTo>
                  <a:pt x="453789" y="5110479"/>
                </a:moveTo>
                <a:lnTo>
                  <a:pt x="636669" y="5110479"/>
                </a:lnTo>
                <a:lnTo>
                  <a:pt x="636669" y="5320650"/>
                </a:lnTo>
                <a:lnTo>
                  <a:pt x="453789" y="5320650"/>
                </a:lnTo>
                <a:close/>
                <a:moveTo>
                  <a:pt x="5112998" y="182205"/>
                </a:moveTo>
                <a:lnTo>
                  <a:pt x="5112998" y="776535"/>
                </a:lnTo>
                <a:lnTo>
                  <a:pt x="5697894" y="776535"/>
                </a:lnTo>
                <a:lnTo>
                  <a:pt x="5697894" y="182205"/>
                </a:lnTo>
                <a:close/>
                <a:moveTo>
                  <a:pt x="1136178" y="0"/>
                </a:moveTo>
                <a:lnTo>
                  <a:pt x="5859440" y="0"/>
                </a:lnTo>
                <a:lnTo>
                  <a:pt x="5859440" y="6871649"/>
                </a:lnTo>
                <a:lnTo>
                  <a:pt x="457200" y="6871649"/>
                </a:lnTo>
                <a:lnTo>
                  <a:pt x="457200" y="5861883"/>
                </a:lnTo>
                <a:lnTo>
                  <a:pt x="1136178" y="5861883"/>
                </a:lnTo>
                <a:lnTo>
                  <a:pt x="1136178" y="533092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3BB6B-7E7E-5571-8661-93FB2DAE9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303" y="786299"/>
            <a:ext cx="5256212" cy="999974"/>
          </a:xfr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defRPr sz="3200" b="1">
                <a:latin typeface="+mn-lt"/>
              </a:defRPr>
            </a:lvl1pPr>
          </a:lstStyle>
          <a:p>
            <a:r>
              <a:rPr lang="en-US"/>
              <a:t>College Name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ADB2ACF-85CA-2BFA-1DF5-D1984F606F9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822299" y="1979355"/>
            <a:ext cx="5245580" cy="1148315"/>
          </a:xfrm>
          <a:noFill/>
        </p:spPr>
        <p:txBody>
          <a:bodyPr lIns="0" tIns="0" rIns="0" bIns="0" anchor="t" anchorCtr="0">
            <a:normAutofit/>
          </a:bodyPr>
          <a:lstStyle>
            <a:lvl1pPr marL="0" indent="0" algn="l">
              <a:lnSpc>
                <a:spcPct val="114000"/>
              </a:lnSpc>
              <a:buNone/>
              <a:defRPr sz="1400" b="1">
                <a:solidFill>
                  <a:srgbClr val="D6172F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Key advantages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A795F5C-FF0E-9F5E-19DC-9F1C66781C2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22299" y="3264195"/>
            <a:ext cx="5256212" cy="3092154"/>
          </a:xfrm>
        </p:spPr>
        <p:txBody>
          <a:bodyPr lIns="0" tIns="0" rIns="0" bIns="0">
            <a:normAutofit/>
          </a:bodyPr>
          <a:lstStyle>
            <a:lvl1pPr>
              <a:spcAft>
                <a:spcPts val="0"/>
              </a:spcAft>
              <a:defRPr sz="1400"/>
            </a:lvl1pPr>
            <a:lvl2pPr>
              <a:spcAft>
                <a:spcPts val="0"/>
              </a:spcAft>
              <a:defRPr sz="1200"/>
            </a:lvl2pPr>
            <a:lvl3pPr>
              <a:spcAft>
                <a:spcPts val="0"/>
              </a:spcAft>
              <a:defRPr sz="1200"/>
            </a:lvl3pPr>
            <a:lvl4pPr>
              <a:spcAft>
                <a:spcPts val="0"/>
              </a:spcAft>
              <a:defRPr sz="1200"/>
            </a:lvl4pPr>
            <a:lvl5pPr>
              <a:spcAft>
                <a:spcPts val="0"/>
              </a:spcAft>
              <a:defRPr sz="1200"/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26012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and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99C5AA2-FFA3-8A9E-FE5E-DD4F7ABAC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5943343 h 6858000"/>
              <a:gd name="connsiteX3" fmla="*/ 11279793 w 12192000"/>
              <a:gd name="connsiteY3" fmla="*/ 5943343 h 6858000"/>
              <a:gd name="connsiteX4" fmla="*/ 11279793 w 12192000"/>
              <a:gd name="connsiteY4" fmla="*/ 5331988 h 6858000"/>
              <a:gd name="connsiteX5" fmla="*/ 10664566 w 12192000"/>
              <a:gd name="connsiteY5" fmla="*/ 5331988 h 6858000"/>
              <a:gd name="connsiteX6" fmla="*/ 10664566 w 12192000"/>
              <a:gd name="connsiteY6" fmla="*/ 5943202 h 6858000"/>
              <a:gd name="connsiteX7" fmla="*/ 10281685 w 12192000"/>
              <a:gd name="connsiteY7" fmla="*/ 5943202 h 6858000"/>
              <a:gd name="connsiteX8" fmla="*/ 10281685 w 12192000"/>
              <a:gd name="connsiteY8" fmla="*/ 6327719 h 6858000"/>
              <a:gd name="connsiteX9" fmla="*/ 10666202 w 12192000"/>
              <a:gd name="connsiteY9" fmla="*/ 6327719 h 6858000"/>
              <a:gd name="connsiteX10" fmla="*/ 10666202 w 12192000"/>
              <a:gd name="connsiteY10" fmla="*/ 5947215 h 6858000"/>
              <a:gd name="connsiteX11" fmla="*/ 11279793 w 12192000"/>
              <a:gd name="connsiteY11" fmla="*/ 5947215 h 6858000"/>
              <a:gd name="connsiteX12" fmla="*/ 1127979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5943343"/>
                </a:lnTo>
                <a:lnTo>
                  <a:pt x="11279793" y="5943343"/>
                </a:lnTo>
                <a:lnTo>
                  <a:pt x="11279793" y="5331988"/>
                </a:lnTo>
                <a:lnTo>
                  <a:pt x="10664566" y="5331988"/>
                </a:lnTo>
                <a:lnTo>
                  <a:pt x="10664566" y="5943202"/>
                </a:lnTo>
                <a:lnTo>
                  <a:pt x="10281685" y="5943202"/>
                </a:lnTo>
                <a:lnTo>
                  <a:pt x="10281685" y="6327719"/>
                </a:lnTo>
                <a:lnTo>
                  <a:pt x="10666202" y="6327719"/>
                </a:lnTo>
                <a:lnTo>
                  <a:pt x="10666202" y="5947215"/>
                </a:lnTo>
                <a:lnTo>
                  <a:pt x="11279793" y="5947215"/>
                </a:lnTo>
                <a:lnTo>
                  <a:pt x="11279793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900CB8C-F8BC-8748-AEBF-91EC7110F0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5066" y="6285840"/>
            <a:ext cx="752133" cy="350271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C364F0A8-C279-55F0-C2F1-4A9CC6B5F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50335"/>
            <a:ext cx="9794358" cy="3732028"/>
          </a:xfrm>
        </p:spPr>
        <p:txBody>
          <a:bodyPr anchor="ctr"/>
          <a:lstStyle>
            <a:lvl1pPr>
              <a:defRPr b="1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Pull quote or emphasis text</a:t>
            </a:r>
          </a:p>
        </p:txBody>
      </p:sp>
    </p:spTree>
    <p:extLst>
      <p:ext uri="{BB962C8B-B14F-4D97-AF65-F5344CB8AC3E}">
        <p14:creationId xmlns:p14="http://schemas.microsoft.com/office/powerpoint/2010/main" val="530736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and pull quote (red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99C5AA2-FFA3-8A9E-FE5E-DD4F7ABAC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5943343 h 6858000"/>
              <a:gd name="connsiteX3" fmla="*/ 11279793 w 12192000"/>
              <a:gd name="connsiteY3" fmla="*/ 5943343 h 6858000"/>
              <a:gd name="connsiteX4" fmla="*/ 11279793 w 12192000"/>
              <a:gd name="connsiteY4" fmla="*/ 5331988 h 6858000"/>
              <a:gd name="connsiteX5" fmla="*/ 10664566 w 12192000"/>
              <a:gd name="connsiteY5" fmla="*/ 5331988 h 6858000"/>
              <a:gd name="connsiteX6" fmla="*/ 10664566 w 12192000"/>
              <a:gd name="connsiteY6" fmla="*/ 5943202 h 6858000"/>
              <a:gd name="connsiteX7" fmla="*/ 10281685 w 12192000"/>
              <a:gd name="connsiteY7" fmla="*/ 5943202 h 6858000"/>
              <a:gd name="connsiteX8" fmla="*/ 10281685 w 12192000"/>
              <a:gd name="connsiteY8" fmla="*/ 6327719 h 6858000"/>
              <a:gd name="connsiteX9" fmla="*/ 10666202 w 12192000"/>
              <a:gd name="connsiteY9" fmla="*/ 6327719 h 6858000"/>
              <a:gd name="connsiteX10" fmla="*/ 10666202 w 12192000"/>
              <a:gd name="connsiteY10" fmla="*/ 5947215 h 6858000"/>
              <a:gd name="connsiteX11" fmla="*/ 11279793 w 12192000"/>
              <a:gd name="connsiteY11" fmla="*/ 5947215 h 6858000"/>
              <a:gd name="connsiteX12" fmla="*/ 1127979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5943343"/>
                </a:lnTo>
                <a:lnTo>
                  <a:pt x="11279793" y="5943343"/>
                </a:lnTo>
                <a:lnTo>
                  <a:pt x="11279793" y="5331988"/>
                </a:lnTo>
                <a:lnTo>
                  <a:pt x="10664566" y="5331988"/>
                </a:lnTo>
                <a:lnTo>
                  <a:pt x="10664566" y="5943202"/>
                </a:lnTo>
                <a:lnTo>
                  <a:pt x="10281685" y="5943202"/>
                </a:lnTo>
                <a:lnTo>
                  <a:pt x="10281685" y="6327719"/>
                </a:lnTo>
                <a:lnTo>
                  <a:pt x="10666202" y="6327719"/>
                </a:lnTo>
                <a:lnTo>
                  <a:pt x="10666202" y="5947215"/>
                </a:lnTo>
                <a:lnTo>
                  <a:pt x="11279793" y="5947215"/>
                </a:lnTo>
                <a:lnTo>
                  <a:pt x="11279793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900CB8C-F8BC-8748-AEBF-91EC7110F0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375066" y="6285840"/>
            <a:ext cx="752132" cy="350271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C364F0A8-C279-55F0-C2F1-4A9CC6B5F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50335"/>
            <a:ext cx="9794358" cy="3732028"/>
          </a:xfrm>
        </p:spPr>
        <p:txBody>
          <a:bodyPr lIns="0" tIns="0" rIns="0" bIns="0" anchor="ctr"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Pull quote or emphasis text</a:t>
            </a:r>
          </a:p>
        </p:txBody>
      </p:sp>
    </p:spTree>
    <p:extLst>
      <p:ext uri="{BB962C8B-B14F-4D97-AF65-F5344CB8AC3E}">
        <p14:creationId xmlns:p14="http://schemas.microsoft.com/office/powerpoint/2010/main" val="2585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1852FB-B7DB-E0A5-844A-5D334F96CE7B}"/>
              </a:ext>
            </a:extLst>
          </p:cNvPr>
          <p:cNvSpPr/>
          <p:nvPr userDrawn="1"/>
        </p:nvSpPr>
        <p:spPr>
          <a:xfrm>
            <a:off x="9894627" y="0"/>
            <a:ext cx="229737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8BECB6-452D-3F29-31B8-5FC19675A40C}"/>
              </a:ext>
            </a:extLst>
          </p:cNvPr>
          <p:cNvSpPr>
            <a:spLocks noChangeAspect="1"/>
          </p:cNvSpPr>
          <p:nvPr userDrawn="1"/>
        </p:nvSpPr>
        <p:spPr>
          <a:xfrm>
            <a:off x="8614467" y="5577840"/>
            <a:ext cx="1280160" cy="1280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29E4BE-F21D-C343-8269-36CC20B633BA}"/>
              </a:ext>
            </a:extLst>
          </p:cNvPr>
          <p:cNvSpPr>
            <a:spLocks noChangeAspect="1"/>
          </p:cNvSpPr>
          <p:nvPr userDrawn="1"/>
        </p:nvSpPr>
        <p:spPr>
          <a:xfrm>
            <a:off x="7777859" y="4754880"/>
            <a:ext cx="822960" cy="82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012940-FA47-0535-086C-B5D9D1359701}"/>
              </a:ext>
            </a:extLst>
          </p:cNvPr>
          <p:cNvSpPr>
            <a:spLocks noChangeAspect="1"/>
          </p:cNvSpPr>
          <p:nvPr userDrawn="1"/>
        </p:nvSpPr>
        <p:spPr>
          <a:xfrm>
            <a:off x="7302235" y="5585346"/>
            <a:ext cx="457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D81EA54-2F85-826C-8191-9C51C9784C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4630" y="2489156"/>
            <a:ext cx="6866189" cy="85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3592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1852FB-B7DB-E0A5-844A-5D334F96CE7B}"/>
              </a:ext>
            </a:extLst>
          </p:cNvPr>
          <p:cNvSpPr/>
          <p:nvPr userDrawn="1"/>
        </p:nvSpPr>
        <p:spPr>
          <a:xfrm>
            <a:off x="9894627" y="0"/>
            <a:ext cx="229737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8BECB6-452D-3F29-31B8-5FC19675A40C}"/>
              </a:ext>
            </a:extLst>
          </p:cNvPr>
          <p:cNvSpPr>
            <a:spLocks noChangeAspect="1"/>
          </p:cNvSpPr>
          <p:nvPr userDrawn="1"/>
        </p:nvSpPr>
        <p:spPr>
          <a:xfrm>
            <a:off x="8614467" y="5577840"/>
            <a:ext cx="1280160" cy="1280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29E4BE-F21D-C343-8269-36CC20B633BA}"/>
              </a:ext>
            </a:extLst>
          </p:cNvPr>
          <p:cNvSpPr>
            <a:spLocks noChangeAspect="1"/>
          </p:cNvSpPr>
          <p:nvPr userDrawn="1"/>
        </p:nvSpPr>
        <p:spPr>
          <a:xfrm>
            <a:off x="7777859" y="4754880"/>
            <a:ext cx="822960" cy="82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012940-FA47-0535-086C-B5D9D1359701}"/>
              </a:ext>
            </a:extLst>
          </p:cNvPr>
          <p:cNvSpPr>
            <a:spLocks noChangeAspect="1"/>
          </p:cNvSpPr>
          <p:nvPr userDrawn="1"/>
        </p:nvSpPr>
        <p:spPr>
          <a:xfrm>
            <a:off x="7302235" y="5585346"/>
            <a:ext cx="457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154C17-B23C-576E-F125-FA6989F67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36457"/>
            <a:ext cx="6774712" cy="1697590"/>
          </a:xfrm>
        </p:spPr>
        <p:txBody>
          <a:bodyPr lIns="0" tIns="0" rIns="0" bIns="0" anchor="ctr">
            <a:normAutofit/>
          </a:bodyPr>
          <a:lstStyle>
            <a:lvl1pPr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35B3C10-B380-2445-8847-0DE0FC21C8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2173" y="5801578"/>
            <a:ext cx="1516145" cy="70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98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1852FB-B7DB-E0A5-844A-5D334F96CE7B}"/>
              </a:ext>
            </a:extLst>
          </p:cNvPr>
          <p:cNvSpPr/>
          <p:nvPr userDrawn="1"/>
        </p:nvSpPr>
        <p:spPr>
          <a:xfrm>
            <a:off x="9894627" y="0"/>
            <a:ext cx="229737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8BECB6-452D-3F29-31B8-5FC19675A40C}"/>
              </a:ext>
            </a:extLst>
          </p:cNvPr>
          <p:cNvSpPr>
            <a:spLocks noChangeAspect="1"/>
          </p:cNvSpPr>
          <p:nvPr userDrawn="1"/>
        </p:nvSpPr>
        <p:spPr>
          <a:xfrm>
            <a:off x="8614467" y="5577840"/>
            <a:ext cx="1280160" cy="1280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29E4BE-F21D-C343-8269-36CC20B633BA}"/>
              </a:ext>
            </a:extLst>
          </p:cNvPr>
          <p:cNvSpPr>
            <a:spLocks noChangeAspect="1"/>
          </p:cNvSpPr>
          <p:nvPr userDrawn="1"/>
        </p:nvSpPr>
        <p:spPr>
          <a:xfrm>
            <a:off x="7777859" y="4754880"/>
            <a:ext cx="822960" cy="822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012940-FA47-0535-086C-B5D9D1359701}"/>
              </a:ext>
            </a:extLst>
          </p:cNvPr>
          <p:cNvSpPr>
            <a:spLocks noChangeAspect="1"/>
          </p:cNvSpPr>
          <p:nvPr userDrawn="1"/>
        </p:nvSpPr>
        <p:spPr>
          <a:xfrm>
            <a:off x="7302235" y="5585346"/>
            <a:ext cx="457200" cy="457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43D7FA-B191-D953-42DF-A56B08BB4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180"/>
            <a:ext cx="8728881" cy="776884"/>
          </a:xfrm>
        </p:spPr>
        <p:txBody>
          <a:bodyPr lIns="0" tIns="0" rIns="0" bIns="0" anchor="t" anchorCtr="0"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1E91B89-0A70-0C28-1609-FE1F4B0C7A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2173" y="5801578"/>
            <a:ext cx="1516145" cy="70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56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8DFFC8-8612-2C43-15B5-6947484B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6612"/>
            <a:ext cx="10515600" cy="109978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BAB19-7FD7-60E2-430D-31F22F460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0369"/>
            <a:ext cx="10515600" cy="46280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02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600" b="1" kern="1200">
          <a:solidFill>
            <a:srgbClr val="00000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kaggle.com/datasets/ted8080/house-prices-and-images-socal/data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4FB16-7181-2B44-A7F9-80181F5CF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741" y="802017"/>
            <a:ext cx="7187065" cy="4153112"/>
          </a:xfrm>
        </p:spPr>
        <p:txBody>
          <a:bodyPr>
            <a:normAutofit/>
          </a:bodyPr>
          <a:lstStyle/>
          <a:p>
            <a:pPr algn="ctr"/>
            <a:br>
              <a:rPr lang="en-US" sz="3600"/>
            </a:br>
            <a:r>
              <a:rPr lang="en-US" sz="3600">
                <a:ea typeface="Source Sans Pro"/>
              </a:rPr>
              <a:t>Housing Price Prediction</a:t>
            </a:r>
            <a:br>
              <a:rPr lang="en-US" sz="3600"/>
            </a:br>
            <a:r>
              <a:rPr lang="en-US" sz="3600"/>
              <a:t>Team#10</a:t>
            </a:r>
            <a:br>
              <a:rPr lang="en-US" sz="3600"/>
            </a:br>
            <a:br>
              <a:rPr lang="en-US" sz="3600"/>
            </a:br>
            <a:endParaRPr lang="en-US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D30167-956B-2092-DCFD-EE4E66D69CAC}"/>
              </a:ext>
            </a:extLst>
          </p:cNvPr>
          <p:cNvSpPr txBox="1"/>
          <p:nvPr/>
        </p:nvSpPr>
        <p:spPr>
          <a:xfrm>
            <a:off x="1593815" y="56141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0969CC-5C46-3531-34EB-5B71B52523E8}"/>
              </a:ext>
            </a:extLst>
          </p:cNvPr>
          <p:cNvSpPr txBox="1"/>
          <p:nvPr/>
        </p:nvSpPr>
        <p:spPr>
          <a:xfrm>
            <a:off x="854729" y="5104725"/>
            <a:ext cx="3014921" cy="175432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Source Sans Pro"/>
              </a:rPr>
              <a:t>Gulam Mahfuz Chowdhury</a:t>
            </a:r>
          </a:p>
          <a:p>
            <a:r>
              <a:rPr lang="en-US">
                <a:ea typeface="Source Sans Pro"/>
              </a:rPr>
              <a:t>Hamza Tahir A Bu Obaid</a:t>
            </a:r>
            <a:endParaRPr lang="en-US"/>
          </a:p>
          <a:p>
            <a:r>
              <a:rPr lang="en-US">
                <a:ea typeface="Source Sans Pro"/>
              </a:rPr>
              <a:t>Mohammed Aftaab Bin Usman</a:t>
            </a:r>
          </a:p>
          <a:p>
            <a:r>
              <a:rPr lang="en-US" err="1">
                <a:ea typeface="Source Sans Pro"/>
              </a:rPr>
              <a:t>Mohemmad</a:t>
            </a:r>
            <a:r>
              <a:rPr lang="en-US">
                <a:ea typeface="Source Sans Pro"/>
              </a:rPr>
              <a:t> Asif Azhar</a:t>
            </a:r>
            <a:endParaRPr lang="en-US">
              <a:solidFill>
                <a:srgbClr val="000000"/>
              </a:solidFill>
              <a:ea typeface="Source Sans Pro"/>
            </a:endParaRPr>
          </a:p>
          <a:p>
            <a:r>
              <a:rPr lang="en-US">
                <a:ea typeface="Source Sans Pro"/>
              </a:rPr>
              <a:t>Yi-Ning Tseng</a:t>
            </a:r>
          </a:p>
        </p:txBody>
      </p:sp>
    </p:spTree>
    <p:extLst>
      <p:ext uri="{BB962C8B-B14F-4D97-AF65-F5344CB8AC3E}">
        <p14:creationId xmlns:p14="http://schemas.microsoft.com/office/powerpoint/2010/main" val="1578682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70CF4-A2AD-1E41-9B54-737924BA3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Housing</a:t>
            </a:r>
            <a:r>
              <a:rPr lang="en-US" sz="2800" b="1"/>
              <a:t> </a:t>
            </a:r>
            <a:r>
              <a:rPr lang="en-US" sz="2800"/>
              <a:t>Price</a:t>
            </a:r>
            <a:r>
              <a:rPr lang="en-US" sz="2800" b="1"/>
              <a:t> </a:t>
            </a:r>
            <a:r>
              <a:rPr lang="en-US" sz="2800"/>
              <a:t>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9BCA5-AE40-2547-94A7-105A16BFD6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>
              <a:lnSpc>
                <a:spcPct val="113999"/>
              </a:lnSpc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Develop a </a:t>
            </a:r>
            <a:r>
              <a:rPr lang="en-US" sz="2000" b="1">
                <a:ea typeface="+mn-lt"/>
                <a:cs typeface="+mn-lt"/>
              </a:rPr>
              <a:t>machine learning model</a:t>
            </a:r>
            <a:r>
              <a:rPr lang="en-US" sz="2000">
                <a:ea typeface="+mn-lt"/>
                <a:cs typeface="+mn-lt"/>
              </a:rPr>
              <a:t> to predict house prices accurately.</a:t>
            </a:r>
            <a:endParaRPr lang="en-US"/>
          </a:p>
          <a:p>
            <a:pPr>
              <a:lnSpc>
                <a:spcPct val="113999"/>
              </a:lnSpc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Utilize features such as </a:t>
            </a:r>
            <a:r>
              <a:rPr lang="en-US" sz="2000" b="1">
                <a:ea typeface="+mn-lt"/>
                <a:cs typeface="+mn-lt"/>
              </a:rPr>
              <a:t>location, square footage, bedrooms and more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13999"/>
              </a:lnSpc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Assist </a:t>
            </a:r>
            <a:r>
              <a:rPr lang="en-US" sz="2000" b="1">
                <a:ea typeface="+mn-lt"/>
                <a:cs typeface="+mn-lt"/>
              </a:rPr>
              <a:t>buyers, sellers, and real estate professionals</a:t>
            </a:r>
            <a:r>
              <a:rPr lang="en-US" sz="2000">
                <a:ea typeface="+mn-lt"/>
                <a:cs typeface="+mn-lt"/>
              </a:rPr>
              <a:t> with data-driven insights.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13999"/>
              </a:lnSpc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Reduce reliance on </a:t>
            </a:r>
            <a:r>
              <a:rPr lang="en-US" sz="2000" b="1">
                <a:ea typeface="+mn-lt"/>
                <a:cs typeface="+mn-lt"/>
              </a:rPr>
              <a:t>traditional valuation methods</a:t>
            </a:r>
            <a:r>
              <a:rPr lang="en-US" sz="2000">
                <a:ea typeface="+mn-lt"/>
                <a:cs typeface="+mn-lt"/>
              </a:rPr>
              <a:t> through predictive analytics.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13999"/>
              </a:lnSpc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Help individuals and businesses </a:t>
            </a:r>
            <a:r>
              <a:rPr lang="en-US" sz="2000" b="1">
                <a:ea typeface="+mn-lt"/>
                <a:cs typeface="+mn-lt"/>
              </a:rPr>
              <a:t>understand market trends &amp; optimize pricing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13999"/>
              </a:lnSpc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Experiment with multiple ML models. </a:t>
            </a:r>
            <a:endParaRPr lang="en-US">
              <a:ea typeface="Source Sans Pro"/>
            </a:endParaRPr>
          </a:p>
          <a:p>
            <a:pPr>
              <a:lnSpc>
                <a:spcPct val="113999"/>
              </a:lnSpc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Compare models using </a:t>
            </a:r>
            <a:r>
              <a:rPr lang="en-US" sz="2000" b="1">
                <a:ea typeface="+mn-lt"/>
                <a:cs typeface="+mn-lt"/>
              </a:rPr>
              <a:t>evaluation metrics</a:t>
            </a:r>
            <a:r>
              <a:rPr lang="en-US" sz="2000">
                <a:ea typeface="+mn-lt"/>
                <a:cs typeface="+mn-lt"/>
              </a:rPr>
              <a:t> to select the best performer.</a:t>
            </a:r>
            <a:endParaRPr lang="en-US">
              <a:ea typeface="+mn-lt"/>
              <a:cs typeface="+mn-lt"/>
            </a:endParaRPr>
          </a:p>
          <a:p>
            <a:pPr marL="0" indent="0">
              <a:lnSpc>
                <a:spcPct val="113999"/>
              </a:lnSpc>
              <a:buNone/>
            </a:pPr>
            <a:endParaRPr lang="en-US" sz="2000"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B0949C5-49F4-CD49-9C6A-9536FD20C2F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r>
              <a:rPr lang="en-US" sz="2000" b="1"/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42267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0E598-83DE-9402-36DE-908097257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05051-A7C4-4246-B6E9-EA7B2DC09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ea typeface="+mn-lt"/>
                <a:cs typeface="+mn-lt"/>
              </a:rPr>
              <a:t>Housing Price Prediction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E9BF3-1A2C-41A1-3639-5FC81F1174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Autofit/>
          </a:bodyPr>
          <a:lstStyle/>
          <a:p>
            <a:pPr>
              <a:lnSpc>
                <a:spcPct val="113999"/>
              </a:lnSpc>
              <a:buFont typeface="Wingdings"/>
              <a:buChar char="§"/>
            </a:pPr>
            <a:r>
              <a:rPr lang="en-US" sz="2000" b="1">
                <a:ea typeface="+mn-lt"/>
                <a:cs typeface="+mn-lt"/>
              </a:rPr>
              <a:t>Traditional pricing methods</a:t>
            </a:r>
            <a:r>
              <a:rPr lang="en-US" sz="2000">
                <a:ea typeface="+mn-lt"/>
                <a:cs typeface="+mn-lt"/>
              </a:rPr>
              <a:t> rely on manual assessments and historical data, leading to subjectivity and inconsistency.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13999"/>
              </a:lnSpc>
              <a:buFont typeface="Wingdings"/>
              <a:buChar char="§"/>
            </a:pPr>
            <a:r>
              <a:rPr lang="en-US" sz="2000" b="1">
                <a:ea typeface="+mn-lt"/>
                <a:cs typeface="+mn-lt"/>
              </a:rPr>
              <a:t>Machine learning</a:t>
            </a:r>
            <a:r>
              <a:rPr lang="en-US" sz="2000">
                <a:ea typeface="+mn-lt"/>
                <a:cs typeface="+mn-lt"/>
              </a:rPr>
              <a:t> enables more precise and adaptable pricing models by analyzing large datasets.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13999"/>
              </a:lnSpc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The </a:t>
            </a:r>
            <a:r>
              <a:rPr lang="en-US" sz="2000" b="1">
                <a:ea typeface="+mn-lt"/>
                <a:cs typeface="+mn-lt"/>
              </a:rPr>
              <a:t>real estate market</a:t>
            </a:r>
            <a:r>
              <a:rPr lang="en-US" sz="2000">
                <a:ea typeface="+mn-lt"/>
                <a:cs typeface="+mn-lt"/>
              </a:rPr>
              <a:t> is complex, influenced by </a:t>
            </a:r>
            <a:r>
              <a:rPr lang="en-US" sz="2000" b="1">
                <a:ea typeface="+mn-lt"/>
                <a:cs typeface="+mn-lt"/>
              </a:rPr>
              <a:t>economic, social, and environmental factors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13999"/>
              </a:lnSpc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This project explores multiple </a:t>
            </a:r>
            <a:r>
              <a:rPr lang="en-US" sz="2000" b="1">
                <a:ea typeface="+mn-lt"/>
                <a:cs typeface="+mn-lt"/>
              </a:rPr>
              <a:t>machine learning models</a:t>
            </a:r>
            <a:r>
              <a:rPr lang="en-US" sz="2000">
                <a:ea typeface="+mn-lt"/>
                <a:cs typeface="+mn-lt"/>
              </a:rPr>
              <a:t> for better generalization.</a:t>
            </a:r>
            <a:endParaRPr lang="en-US"/>
          </a:p>
          <a:p>
            <a:pPr>
              <a:lnSpc>
                <a:spcPct val="113999"/>
              </a:lnSpc>
              <a:buFont typeface="Wingdings"/>
              <a:buChar char="§"/>
            </a:pPr>
            <a:r>
              <a:rPr lang="en-US" sz="2000" b="1">
                <a:ea typeface="+mn-lt"/>
                <a:cs typeface="+mn-lt"/>
              </a:rPr>
              <a:t>Deep learning techniques</a:t>
            </a:r>
            <a:r>
              <a:rPr lang="en-US" sz="2000">
                <a:ea typeface="+mn-lt"/>
                <a:cs typeface="+mn-lt"/>
              </a:rPr>
              <a:t> will help capture </a:t>
            </a:r>
            <a:r>
              <a:rPr lang="en-US" sz="2000" b="1">
                <a:ea typeface="+mn-lt"/>
                <a:cs typeface="+mn-lt"/>
              </a:rPr>
              <a:t>non-linear relationships</a:t>
            </a:r>
            <a:r>
              <a:rPr lang="en-US" sz="2000">
                <a:ea typeface="+mn-lt"/>
                <a:cs typeface="+mn-lt"/>
              </a:rPr>
              <a:t> in the data.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13999"/>
              </a:lnSpc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Using a </a:t>
            </a:r>
            <a:r>
              <a:rPr lang="en-US" sz="2000" b="1">
                <a:ea typeface="+mn-lt"/>
                <a:cs typeface="+mn-lt"/>
              </a:rPr>
              <a:t>Kaggle dataset</a:t>
            </a:r>
            <a:r>
              <a:rPr lang="en-US" sz="2000">
                <a:ea typeface="+mn-lt"/>
                <a:cs typeface="+mn-lt"/>
              </a:rPr>
              <a:t> with property images, location, built-up area, bathrooms, bedrooms etc.</a:t>
            </a:r>
            <a:endParaRPr lang="en-US"/>
          </a:p>
          <a:p>
            <a:pPr>
              <a:lnSpc>
                <a:spcPct val="113999"/>
              </a:lnSpc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Aims to bridge the gap between </a:t>
            </a:r>
            <a:r>
              <a:rPr lang="en-US" sz="2000" b="1">
                <a:ea typeface="+mn-lt"/>
                <a:cs typeface="+mn-lt"/>
              </a:rPr>
              <a:t>market fluctuations and real estate valuation</a:t>
            </a:r>
            <a:r>
              <a:rPr lang="en-US" sz="2000">
                <a:ea typeface="+mn-lt"/>
                <a:cs typeface="+mn-lt"/>
              </a:rPr>
              <a:t>, offering valuable insights to stakeholders.</a:t>
            </a:r>
            <a:endParaRPr lang="en-US">
              <a:ea typeface="+mn-lt"/>
              <a:cs typeface="+mn-lt"/>
            </a:endParaRPr>
          </a:p>
          <a:p>
            <a:pPr marL="0" indent="0">
              <a:lnSpc>
                <a:spcPct val="113999"/>
              </a:lnSpc>
              <a:buNone/>
            </a:pPr>
            <a:endParaRPr lang="en-US" sz="2000"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746FD1D-8F80-01C5-F02A-A0C84235A1D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Background Information</a:t>
            </a:r>
          </a:p>
        </p:txBody>
      </p:sp>
    </p:spTree>
    <p:extLst>
      <p:ext uri="{BB962C8B-B14F-4D97-AF65-F5344CB8AC3E}">
        <p14:creationId xmlns:p14="http://schemas.microsoft.com/office/powerpoint/2010/main" val="3531118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86D0-0092-585C-8DC6-A1467BD96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33CDC-B987-AAA4-83C2-55B13AA6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ea typeface="+mn-lt"/>
                <a:cs typeface="+mn-lt"/>
              </a:rPr>
              <a:t>Housing Price Prediction</a:t>
            </a:r>
            <a:endParaRPr lang="en-US" sz="2800" b="0">
              <a:ea typeface="+mn-lt"/>
              <a:cs typeface="+mn-lt"/>
            </a:endParaRPr>
          </a:p>
          <a:p>
            <a:endParaRPr lang="en-US" sz="2800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5B070-C82A-F54E-0D0C-47C9372A5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02025"/>
            <a:ext cx="10514012" cy="4744829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sz="2000" b="1">
                <a:ea typeface="+mn-lt"/>
                <a:cs typeface="+mn-lt"/>
              </a:rPr>
              <a:t>Proposal (Due: 02/09) 1-2 weeks </a:t>
            </a:r>
          </a:p>
          <a:p>
            <a: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5 slides: Objectives, methodology, timeline, and tools.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sz="2000" b="1">
                <a:ea typeface="+mn-lt"/>
                <a:cs typeface="+mn-lt"/>
              </a:rPr>
              <a:t>Mid-Semester Update (Due: 03/16) 2-3 weeks </a:t>
            </a:r>
          </a:p>
          <a:p>
            <a:pPr lvl="6">
              <a:lnSpc>
                <a:spcPct val="100000"/>
              </a:lnSpc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en-US">
                <a:ea typeface="+mn-lt"/>
                <a:cs typeface="+mn-lt"/>
              </a:rPr>
              <a:t>Add ~10 slides: Progress, data preprocessing, and initial analysis.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sz="2000" b="1">
                <a:ea typeface="+mn-lt"/>
                <a:cs typeface="+mn-lt"/>
              </a:rPr>
              <a:t>Final Update (Due: 04/20) 3-6 weeks</a:t>
            </a:r>
          </a:p>
          <a:p>
            <a: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Add ~10 slides: Results, evaluation, and conclusion.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sz="2000" b="1">
                <a:ea typeface="+mn-lt"/>
                <a:cs typeface="+mn-lt"/>
              </a:rPr>
              <a:t>Demo &amp; Report (04/21 – 05/02) 1-2 weeks</a:t>
            </a:r>
          </a:p>
          <a:p>
            <a: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Present the project and submit the final report.</a:t>
            </a:r>
          </a:p>
          <a:p>
            <a:pPr marL="68580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Wingdings"/>
              <a:buChar char="§"/>
            </a:pPr>
            <a:endParaRPr lang="en-US" sz="2000">
              <a:solidFill>
                <a:srgbClr val="000000"/>
              </a:solidFill>
              <a:latin typeface="Neue Haas Grotesk Text Pro"/>
              <a:ea typeface="Source Sans Pro"/>
            </a:endParaRPr>
          </a:p>
          <a:p>
            <a:pPr>
              <a:lnSpc>
                <a:spcPct val="113999"/>
              </a:lnSpc>
              <a:buFont typeface="Wingdings"/>
              <a:buChar char="§"/>
            </a:pPr>
            <a:endParaRPr lang="en-US" sz="2000"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0E971DD-F11D-970C-6163-5DFF205DBB3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pPr>
              <a:lnSpc>
                <a:spcPct val="113999"/>
              </a:lnSpc>
            </a:pPr>
            <a:r>
              <a:rPr lang="en-US" sz="2000" b="1">
                <a:solidFill>
                  <a:srgbClr val="D6172F"/>
                </a:solidFill>
                <a:latin typeface="Source Sans Pro"/>
                <a:ea typeface="Source Sans Pro"/>
              </a:rPr>
              <a:t>Project Timeline Blueprint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25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293DA-E25E-0846-BCE1-52CBA12A6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AFC0D-3621-8F0D-24F6-59825DB8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ea typeface="+mn-lt"/>
                <a:cs typeface="+mn-lt"/>
              </a:rPr>
              <a:t>Housing Price Prediction</a:t>
            </a:r>
            <a:endParaRPr lang="en-US" sz="2800" b="0">
              <a:ea typeface="+mn-lt"/>
              <a:cs typeface="+mn-lt"/>
            </a:endParaRPr>
          </a:p>
          <a:p>
            <a:endParaRPr lang="en-US" sz="2800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83201-CC42-3AC5-0298-EE5C59828C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sz="2000" b="1">
                <a:ea typeface="+mn-lt"/>
                <a:cs typeface="+mn-lt"/>
              </a:rPr>
              <a:t>Dataset Collection</a:t>
            </a:r>
            <a:endParaRPr lang="en-US">
              <a:ea typeface="Source Sans Pro"/>
            </a:endParaRPr>
          </a:p>
          <a:p>
            <a:pPr lvl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The dataset includes information about real estate trends, prices, locations, and property details.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sz="2000" b="1">
                <a:ea typeface="+mn-lt"/>
                <a:cs typeface="+mn-lt"/>
              </a:rPr>
              <a:t>Data Preprocessing</a:t>
            </a:r>
          </a:p>
          <a:p>
            <a:pPr lvl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Techniques include handling missing data(mean , mode), encoding categorical variables, and standardizing numeric features.</a:t>
            </a:r>
          </a:p>
          <a:p>
            <a:pPr lvl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Feature Selection : remove irrelevant features . </a:t>
            </a:r>
          </a:p>
          <a:p>
            <a:pPr lvl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Tools: Python (Pandas, NumPy), maybe Power BI for visualization.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sz="2000" b="1">
                <a:ea typeface="+mn-lt"/>
                <a:cs typeface="+mn-lt"/>
              </a:rPr>
              <a:t>Challenges and Considerations</a:t>
            </a:r>
          </a:p>
          <a:p>
            <a:pPr lvl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Ensuring data consistency across states.</a:t>
            </a:r>
          </a:p>
          <a:p>
            <a:pPr lvl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Incorporating additional features such as historical trends and demographic data.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Wingdings"/>
              <a:buChar char="§"/>
            </a:pPr>
            <a:endParaRPr lang="en-US" sz="1900">
              <a:solidFill>
                <a:srgbClr val="000000"/>
              </a:solidFill>
              <a:latin typeface="Neue Haas Grotesk Text Pro"/>
              <a:ea typeface="Source Sans Pro"/>
            </a:endParaRPr>
          </a:p>
          <a:p>
            <a:pPr>
              <a:lnSpc>
                <a:spcPct val="113999"/>
              </a:lnSpc>
              <a:buFont typeface="Wingdings"/>
              <a:buChar char="§"/>
            </a:pPr>
            <a:endParaRPr lang="en-US" sz="2000"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E5E158-C0E5-1FEB-E510-67972516C34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pPr>
              <a:lnSpc>
                <a:spcPct val="93999"/>
              </a:lnSpc>
            </a:pPr>
            <a:r>
              <a:rPr lang="en-US" sz="2000" b="1">
                <a:solidFill>
                  <a:srgbClr val="D6172F"/>
                </a:solidFill>
                <a:latin typeface="Source Sans Pro"/>
                <a:ea typeface="Source Sans Pro"/>
              </a:rPr>
              <a:t>Background Research</a:t>
            </a:r>
            <a:br>
              <a:rPr lang="en-US" sz="2000" b="1">
                <a:solidFill>
                  <a:srgbClr val="D6172F"/>
                </a:solidFill>
                <a:latin typeface="Source Sans Pro"/>
                <a:ea typeface="Source Sans Pro"/>
              </a:rPr>
            </a:br>
            <a:endParaRPr lang="en-US" sz="2000" b="1">
              <a:solidFill>
                <a:srgbClr val="D6172F"/>
              </a:solidFill>
              <a:latin typeface="Source Sans Pro"/>
              <a:ea typeface="Source Sans Pro"/>
            </a:endParaRPr>
          </a:p>
          <a:p>
            <a:pPr marL="0" indent="0">
              <a:lnSpc>
                <a:spcPct val="113999"/>
              </a:lnSpc>
              <a:buNone/>
            </a:pPr>
            <a:endParaRPr lang="en-US" sz="2000" b="1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906402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E5E2-D9D1-4573-B143-FBFD9B28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Source Sans Pro"/>
              </a:rPr>
              <a:t>Housing Price Prediction</a:t>
            </a:r>
            <a:endParaRPr lang="en-US" sz="2800" b="0">
              <a:ea typeface="Source Sans Pro"/>
            </a:endParaRPr>
          </a:p>
          <a:p>
            <a:endParaRPr lang="en-US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00762-235E-52DD-4672-61E96AC1D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18881"/>
            <a:ext cx="10514012" cy="4848777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sz="2000">
                <a:ea typeface="+mn-lt"/>
                <a:cs typeface="+mn-lt"/>
              </a:rPr>
              <a:t>Ensuring data consistency across states.</a:t>
            </a:r>
            <a:endParaRPr lang="en-US" sz="2000">
              <a:ea typeface="Source Sans Pro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sz="2000">
                <a:ea typeface="+mn-lt"/>
                <a:cs typeface="+mn-lt"/>
              </a:rPr>
              <a:t>Incorporating additional features such as historical trends and demographic data.</a:t>
            </a:r>
            <a:endParaRPr lang="en-US" sz="2000">
              <a:ea typeface="Source Sans Pro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>
                <a:ea typeface="+mn-lt"/>
                <a:cs typeface="+mn-lt"/>
              </a:rPr>
              <a:t>Addressing conflicting feature formats, outliers, and missing values.</a:t>
            </a:r>
            <a:endParaRPr lang="en-US" sz="2000">
              <a:ea typeface="Source Sans Pro"/>
            </a:endParaRPr>
          </a:p>
          <a:p>
            <a:pPr lvl="1" indent="-2857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600">
                <a:solidFill>
                  <a:srgbClr val="000000"/>
                </a:solidFill>
                <a:latin typeface="Aptos"/>
                <a:ea typeface="+mn-lt"/>
                <a:cs typeface="+mn-lt"/>
              </a:rPr>
              <a:t>Solution</a:t>
            </a:r>
          </a:p>
          <a:p>
            <a:pPr lvl="2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Excluded outliers, standardized features for machine learning compatibility, and regenerated missing values.</a:t>
            </a:r>
          </a:p>
          <a:p>
            <a:pPr lvl="2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A clean and ready dataset, improving model training quality and consistency.</a:t>
            </a:r>
          </a:p>
          <a:p>
            <a:pPr lvl="2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Plot or Table for clarification</a:t>
            </a:r>
          </a:p>
          <a:p>
            <a:pPr marL="457200" lvl="1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>
              <a:ea typeface="+mn-lt"/>
              <a:cs typeface="+mn-lt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Determining the most impactful features for housing price prediction while removing irrelevant ones. </a:t>
            </a:r>
          </a:p>
          <a:p>
            <a:pPr lvl="1" indent="-2857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/>
            </a:pPr>
            <a:r>
              <a:rPr lang="en-US" sz="1600">
                <a:ea typeface="+mn-lt"/>
                <a:cs typeface="+mn-lt"/>
              </a:rPr>
              <a:t>Solution</a:t>
            </a:r>
          </a:p>
          <a:p>
            <a:pPr marL="971550" lvl="1" indent="-28575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Identified important predictors by using domain knowledge and correlation analysis.</a:t>
            </a:r>
          </a:p>
          <a:p>
            <a:pPr marL="971550" lvl="1" indent="-28575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Showing the most relevant feature using table</a:t>
            </a:r>
            <a:endParaRPr lang="en-US"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25549ED-440F-7010-AD1D-4A969C5C2E0D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pPr>
              <a:lnSpc>
                <a:spcPct val="113999"/>
              </a:lnSpc>
            </a:pPr>
            <a:r>
              <a:rPr lang="en-US" sz="2000" b="1"/>
              <a:t>Biggest Challenge and Overcome</a:t>
            </a:r>
            <a:endParaRPr lang="en-US" sz="2000" b="1">
              <a:ea typeface="Source Sans Pro"/>
            </a:endParaRPr>
          </a:p>
          <a:p>
            <a:pPr>
              <a:lnSpc>
                <a:spcPct val="113999"/>
              </a:lnSpc>
            </a:pPr>
            <a:endParaRPr lang="en-US" sz="20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589746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CCC47-D75A-7325-2C7E-E644B77F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6102-8CB2-CF34-4D9E-CDFC6A0D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Source Sans Pro"/>
              </a:rPr>
              <a:t>Housing Price Prediction</a:t>
            </a:r>
            <a:endParaRPr lang="en-US" sz="2800" b="0">
              <a:ea typeface="Source Sans Pro"/>
            </a:endParaRPr>
          </a:p>
          <a:p>
            <a:endParaRPr lang="en-US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CB5C7-3B5B-0074-56A6-183976B109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514350" indent="-5143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2000">
              <a:ea typeface="+mn-lt"/>
              <a:cs typeface="+mn-lt"/>
            </a:endParaRP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>
                <a:ea typeface="+mn-lt"/>
                <a:cs typeface="+mn-lt"/>
              </a:rPr>
              <a:t>Data Analysis, normalize data, extract new features, and use feature importance analysis to find important predictors. </a:t>
            </a:r>
            <a:endParaRPr lang="en-US">
              <a:ea typeface="+mn-lt"/>
              <a:cs typeface="+mn-lt"/>
            </a:endParaRP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2000">
              <a:ea typeface="+mn-lt"/>
              <a:cs typeface="+mn-lt"/>
            </a:endParaRP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>
                <a:ea typeface="+mn-lt"/>
                <a:cs typeface="+mn-lt"/>
              </a:rPr>
              <a:t>Compare models using RMSE and R², ensuring robustness with cross-validation.</a:t>
            </a:r>
            <a:endParaRPr lang="en-US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Linear Regression, Random Forest, Decision Tree and </a:t>
            </a: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971550" lvl="1" indent="-51435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endParaRPr lang="en-US">
              <a:ea typeface="+mn-lt"/>
              <a:cs typeface="+mn-lt"/>
            </a:endParaRP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>
                <a:ea typeface="+mn-lt"/>
                <a:cs typeface="+mn-lt"/>
              </a:rPr>
              <a:t>Choose the optimal model for deployment and adjust the hyperparameters.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ptos"/>
                <a:ea typeface="+mn-lt"/>
                <a:cs typeface="+mn-lt"/>
              </a:rPr>
              <a:t>  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>
              <a:ea typeface="+mn-lt"/>
              <a:cs typeface="+mn-lt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F0F1947-22FD-DBE5-5B75-A4E07DE955DD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pPr>
              <a:lnSpc>
                <a:spcPct val="113999"/>
              </a:lnSpc>
            </a:pPr>
            <a:r>
              <a:rPr lang="en-US" sz="2000" b="1"/>
              <a:t>Next Immediate Steps</a:t>
            </a:r>
            <a:endParaRPr lang="en-US"/>
          </a:p>
          <a:p>
            <a:pPr>
              <a:lnSpc>
                <a:spcPct val="113999"/>
              </a:lnSpc>
            </a:pPr>
            <a:endParaRPr lang="en-US" sz="20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805287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2C057-17A7-F5B6-309D-DADF731D9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C656-9246-511C-20E9-E6113336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Source Sans Pro"/>
              </a:rPr>
              <a:t>Housing Price Prediction</a:t>
            </a:r>
            <a:endParaRPr lang="en-US" sz="2800" b="0">
              <a:ea typeface="Source Sans Pro"/>
            </a:endParaRPr>
          </a:p>
          <a:p>
            <a:endParaRPr lang="en-US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C95F8-6FB0-4CFF-E3C3-7301C3B0C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14235"/>
            <a:ext cx="4208928" cy="2353692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2000">
              <a:solidFill>
                <a:srgbClr val="000000"/>
              </a:solidFill>
              <a:latin typeface="Source Sans Pro"/>
              <a:ea typeface="+mn-lt"/>
              <a:cs typeface="+mn-lt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,monospace" panose="05000000000000000000" pitchFamily="2" charset="2"/>
              <a:buChar char="o"/>
            </a:pPr>
            <a:endParaRPr lang="en-US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2000">
              <a:ea typeface="+mn-lt"/>
              <a:cs typeface="+mn-lt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4BA7754-A032-0802-E968-197318C9315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pPr>
              <a:lnSpc>
                <a:spcPct val="113999"/>
              </a:lnSpc>
            </a:pPr>
            <a:r>
              <a:rPr lang="en-US" sz="2000" b="1"/>
              <a:t>Data Analysis</a:t>
            </a:r>
            <a:endParaRPr lang="en-US"/>
          </a:p>
          <a:p>
            <a:pPr>
              <a:lnSpc>
                <a:spcPct val="113999"/>
              </a:lnSpc>
            </a:pPr>
            <a:endParaRPr lang="en-US" sz="2000">
              <a:ea typeface="Source Sans Pr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-1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graph of blue and black bars&#10;&#10;AI-generated content may be incorrect.">
            <a:extLst>
              <a:ext uri="{FF2B5EF4-FFF2-40B4-BE49-F238E27FC236}">
                <a16:creationId xmlns:a16="http://schemas.microsoft.com/office/drawing/2014/main" id="{4414907B-7C3A-58B3-FBD6-ED8B2F89E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55" y="4424322"/>
            <a:ext cx="3357622" cy="2119051"/>
          </a:xfrm>
          <a:prstGeom prst="rect">
            <a:avLst/>
          </a:prstGeom>
        </p:spPr>
      </p:pic>
      <p:pic>
        <p:nvPicPr>
          <p:cNvPr id="11" name="Picture 10" descr="A graph of blue and black bars&#10;&#10;AI-generated content may be incorrect.">
            <a:extLst>
              <a:ext uri="{FF2B5EF4-FFF2-40B4-BE49-F238E27FC236}">
                <a16:creationId xmlns:a16="http://schemas.microsoft.com/office/drawing/2014/main" id="{459C210C-AED9-FA84-86E1-DBBCC60F1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601" y="538431"/>
            <a:ext cx="4185064" cy="2820970"/>
          </a:xfrm>
          <a:prstGeom prst="rect">
            <a:avLst/>
          </a:prstGeom>
        </p:spPr>
      </p:pic>
      <p:pic>
        <p:nvPicPr>
          <p:cNvPr id="12" name="Picture 11" descr="A graph of a number of blue lines&#10;&#10;AI-generated content may be incorrect.">
            <a:extLst>
              <a:ext uri="{FF2B5EF4-FFF2-40B4-BE49-F238E27FC236}">
                <a16:creationId xmlns:a16="http://schemas.microsoft.com/office/drawing/2014/main" id="{8EBFA636-91E3-2B5B-0CAD-6A9DF42BD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114" y="4436281"/>
            <a:ext cx="2915959" cy="2117197"/>
          </a:xfrm>
          <a:prstGeom prst="rect">
            <a:avLst/>
          </a:prstGeom>
        </p:spPr>
      </p:pic>
      <p:pic>
        <p:nvPicPr>
          <p:cNvPr id="13" name="Content Placeholder 6" descr="A graph of a bed&#10;&#10;AI-generated content may be incorrect.">
            <a:extLst>
              <a:ext uri="{FF2B5EF4-FFF2-40B4-BE49-F238E27FC236}">
                <a16:creationId xmlns:a16="http://schemas.microsoft.com/office/drawing/2014/main" id="{25618628-0C4F-D1AB-8BB0-9BE392A19FE1}"/>
              </a:ext>
            </a:extLst>
          </p:cNvPr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8975" y="4427777"/>
            <a:ext cx="2739834" cy="211608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055EE5B-8A12-FADF-FCBB-5D9C17690A30}"/>
              </a:ext>
            </a:extLst>
          </p:cNvPr>
          <p:cNvSpPr txBox="1">
            <a:spLocks/>
          </p:cNvSpPr>
          <p:nvPr/>
        </p:nvSpPr>
        <p:spPr>
          <a:xfrm>
            <a:off x="1173395" y="1948049"/>
            <a:ext cx="10514012" cy="470938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Data source: </a:t>
            </a:r>
            <a:r>
              <a:rPr lang="en-US" sz="2000">
                <a:solidFill>
                  <a:srgbClr val="000000"/>
                </a:solidFill>
                <a:latin typeface="Source Sans Pro"/>
                <a:ea typeface="+mn-lt"/>
                <a:cs typeface="+mn-lt"/>
                <a:hlinkClick r:id="rId6"/>
              </a:rPr>
              <a:t>Kaggle</a:t>
            </a:r>
            <a:endParaRPr lang="en-US" sz="2000">
              <a:solidFill>
                <a:srgbClr val="000000"/>
              </a:solidFill>
              <a:latin typeface="Source Sans Pro"/>
              <a:ea typeface="+mn-lt"/>
              <a:cs typeface="+mn-lt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Number of Data: 15474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Data type: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,monospace" panose="05000000000000000000" pitchFamily="2" charset="2"/>
              <a:buChar char="o"/>
            </a:pPr>
            <a:r>
              <a:rPr lang="en-US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Image (415*311*96 3D Images)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,monospace" panose="05000000000000000000" pitchFamily="2" charset="2"/>
              <a:buChar char="o"/>
            </a:pPr>
            <a:r>
              <a:rPr lang="en-US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Features (Street Name, City, Number of Bed, Number of Bath, Area) 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Prediction: Price</a:t>
            </a:r>
            <a:endParaRPr lang="en-US"/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,monospace" panose="05000000000000000000" pitchFamily="2" charset="2"/>
              <a:buChar char="o"/>
            </a:pPr>
            <a:endParaRPr lang="en-US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2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6069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CAD6C-21CF-18B9-96E4-C61636EBA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D3C88-D3C4-C806-1675-716BC10F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ea typeface="+mn-lt"/>
                <a:cs typeface="+mn-lt"/>
              </a:rPr>
              <a:t>Housing Price Prediction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3685A-9277-BD5F-B9FE-6A90A3908D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0" tIns="0" rIns="0" bIns="0" rtlCol="0" anchor="t">
            <a:noAutofit/>
          </a:bodyPr>
          <a:lstStyle/>
          <a:p>
            <a:pPr>
              <a:lnSpc>
                <a:spcPct val="113999"/>
              </a:lnSpc>
              <a:buNone/>
            </a:pPr>
            <a:endParaRPr lang="en-US" sz="2000">
              <a:solidFill>
                <a:schemeClr val="accent5"/>
              </a:solidFill>
              <a:ea typeface="+mn-lt"/>
              <a:cs typeface="+mn-lt"/>
            </a:endParaRPr>
          </a:p>
          <a:p>
            <a:pPr>
              <a:lnSpc>
                <a:spcPct val="113999"/>
              </a:lnSpc>
              <a:buNone/>
            </a:pPr>
            <a:endParaRPr lang="en-US">
              <a:solidFill>
                <a:schemeClr val="accent5"/>
              </a:solidFill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B7E3657-1557-9BF7-4C57-C54B1123775F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pPr>
              <a:lnSpc>
                <a:spcPct val="113999"/>
              </a:lnSpc>
            </a:pPr>
            <a:r>
              <a:rPr lang="en-US" sz="2000" b="1"/>
              <a:t>Dataset Processing Steps</a:t>
            </a:r>
            <a:endParaRPr lang="en-US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F2AD2AA0-1148-0187-26A9-DEAE1C75D9D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10531928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8396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B9A5C-F94B-451B-C68D-E624B89AD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+mn-lt"/>
                <a:cs typeface="+mn-lt"/>
              </a:rPr>
              <a:t>Housing Price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73F5D-0B67-35EA-8791-98E78E8DC7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2000">
              <a:solidFill>
                <a:srgbClr val="000000"/>
              </a:solidFill>
              <a:latin typeface="Source Sans Pro"/>
              <a:ea typeface="+mn-lt"/>
              <a:cs typeface="+mn-lt"/>
            </a:endParaRPr>
          </a:p>
          <a:p>
            <a:r>
              <a:rPr lang="en-US" sz="20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Our project focuses on predicting housing prices using machine learning models. In Phase I, we proposed utilizing Multiple Linear Regression as the primary algorithm. </a:t>
            </a:r>
          </a:p>
          <a:p>
            <a:endParaRPr lang="en-US" sz="2000">
              <a:solidFill>
                <a:srgbClr val="000000"/>
              </a:solidFill>
              <a:latin typeface="Source Sans Pro"/>
              <a:ea typeface="+mn-lt"/>
              <a:cs typeface="+mn-lt"/>
            </a:endParaRPr>
          </a:p>
          <a:p>
            <a:r>
              <a:rPr lang="en-US" sz="20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Since housing prices are continuous numerical values, Multiple Linear Regression was a natural choice due to its ability to predict values based on multiple independent variables and compared its performance with other models to determine the best fit. </a:t>
            </a:r>
          </a:p>
          <a:p>
            <a:endParaRPr lang="en-US" sz="2000">
              <a:solidFill>
                <a:srgbClr val="000000"/>
              </a:solidFill>
              <a:latin typeface="Source Sans Pro"/>
              <a:ea typeface="+mn-lt"/>
              <a:cs typeface="+mn-lt"/>
            </a:endParaRPr>
          </a:p>
          <a:p>
            <a:r>
              <a:rPr lang="en-US" sz="20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In phase-II we will discusses our experimental setup, model choices, evaluation metrics, visualizations, challenges faced, and plans for the final phase.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D8F5548-99D6-FE3E-1D2E-484B2C4F4FA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r>
              <a:rPr lang="en-US" sz="2000" b="1"/>
              <a:t>Phase-II continue…..</a:t>
            </a:r>
          </a:p>
        </p:txBody>
      </p:sp>
    </p:spTree>
    <p:extLst>
      <p:ext uri="{BB962C8B-B14F-4D97-AF65-F5344CB8AC3E}">
        <p14:creationId xmlns:p14="http://schemas.microsoft.com/office/powerpoint/2010/main" val="3049396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9E109-4FB5-B974-E1AB-2D2E6F181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DAC2-24E9-C4D9-3A3C-DB60BE7D4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+mn-lt"/>
                <a:cs typeface="+mn-lt"/>
              </a:rPr>
              <a:t>Housing Price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3AA0A-C4B9-E5D4-7B40-5C94F5686F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20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Experimental Setup</a:t>
            </a:r>
          </a:p>
          <a:p>
            <a:pPr lvl="1"/>
            <a:r>
              <a:rPr lang="en-US" sz="16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We used the dataset from Kaggle containing 15474 samples and 7 features such as, Image Id, Number of bedrooms, Number of bathrooms, </a:t>
            </a:r>
            <a:r>
              <a:rPr lang="en-US" sz="1600" err="1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Sqft</a:t>
            </a:r>
            <a:r>
              <a:rPr lang="en-US" sz="16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  Area , Location, Street, City </a:t>
            </a:r>
          </a:p>
          <a:p>
            <a:r>
              <a:rPr lang="en-US" sz="20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Data preparation</a:t>
            </a:r>
          </a:p>
          <a:p>
            <a:pPr lvl="1"/>
            <a:r>
              <a:rPr lang="en-US" sz="16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We drop the image id as the multiple image id mapped to same address and creating duplicate record, after dropping duplicate entries, data size = 12417</a:t>
            </a:r>
          </a:p>
          <a:p>
            <a:pPr lvl="1"/>
            <a:r>
              <a:rPr lang="en-US" sz="16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Derived new feature from address to ensure unique identification and facilitate easy search, we mergerd  "City" and "Address" to create unique house indicator</a:t>
            </a:r>
          </a:p>
          <a:p>
            <a:pPr lvl="1"/>
            <a:r>
              <a:rPr lang="en-US" sz="16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Feature  scaling using minmax scalar for sqft and price</a:t>
            </a:r>
          </a:p>
          <a:p>
            <a:pPr lvl="1">
              <a:lnSpc>
                <a:spcPct val="113999"/>
              </a:lnSpc>
            </a:pPr>
            <a:r>
              <a:rPr lang="en-US" sz="16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Location encoding to transform the strings into numeric data ( we are using Label Encoding)</a:t>
            </a:r>
          </a:p>
          <a:p>
            <a:pPr lvl="1"/>
            <a:r>
              <a:rPr lang="en-US" sz="1600">
                <a:solidFill>
                  <a:srgbClr val="000000"/>
                </a:solidFill>
                <a:latin typeface="Source Sans Pro"/>
                <a:ea typeface="+mn-lt"/>
                <a:cs typeface="+mn-lt"/>
              </a:rPr>
              <a:t>Split data into 80% into training and 20% into testing</a:t>
            </a: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Source Sans Pro"/>
              <a:ea typeface="+mn-lt"/>
              <a:cs typeface="+mn-lt"/>
            </a:endParaRPr>
          </a:p>
          <a:p>
            <a:pPr lvl="1"/>
            <a:endParaRPr lang="en-US" sz="1600">
              <a:solidFill>
                <a:srgbClr val="000000"/>
              </a:solidFill>
              <a:latin typeface="Source Sans Pro"/>
              <a:ea typeface="+mn-lt"/>
              <a:cs typeface="+mn-lt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FDC1A45-FD3B-DCD8-AEDF-DE34D03B1B75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sz="2000" b="1"/>
              <a:t>Experiment setup, Data preparation steps and 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2256319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5789C-E56D-6C12-8A26-79C9025D8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Source Sans Pro"/>
              </a:rPr>
              <a:t>Housing Price Prediction</a:t>
            </a:r>
            <a:endParaRPr lang="en-US" sz="2800" b="0">
              <a:ea typeface="Source Sans Pro"/>
            </a:endParaRPr>
          </a:p>
          <a:p>
            <a:endParaRPr lang="en-US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B9061-A847-72EF-6E63-92D74F8357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2000">
                <a:solidFill>
                  <a:srgbClr val="000000"/>
                </a:solidFill>
                <a:ea typeface="Source Sans Pro"/>
              </a:rPr>
              <a:t>Model Selection(team dicided to work on below models and each of us is working on one model)</a:t>
            </a:r>
            <a:endParaRPr lang="en-US" sz="2000">
              <a:ea typeface="Source Sans Pro"/>
            </a:endParaRPr>
          </a:p>
          <a:p>
            <a:pPr lvl="1">
              <a:lnSpc>
                <a:spcPct val="113999"/>
              </a:lnSpc>
            </a:pPr>
            <a:r>
              <a:rPr lang="en-US" sz="1600">
                <a:solidFill>
                  <a:srgbClr val="000000"/>
                </a:solidFill>
                <a:ea typeface="Source Sans Pro"/>
              </a:rPr>
              <a:t>Linear regression</a:t>
            </a:r>
            <a:endParaRPr lang="en-US" sz="1600">
              <a:ea typeface="Source Sans Pro"/>
            </a:endParaRPr>
          </a:p>
          <a:p>
            <a:pPr lvl="1">
              <a:lnSpc>
                <a:spcPct val="113999"/>
              </a:lnSpc>
            </a:pPr>
            <a:r>
              <a:rPr lang="en-US" sz="1600">
                <a:solidFill>
                  <a:srgbClr val="000000"/>
                </a:solidFill>
                <a:ea typeface="Source Sans Pro"/>
              </a:rPr>
              <a:t>Lasso regression</a:t>
            </a:r>
            <a:endParaRPr lang="en-US" sz="1600">
              <a:ea typeface="Source Sans Pro"/>
            </a:endParaRPr>
          </a:p>
          <a:p>
            <a:pPr lvl="1">
              <a:lnSpc>
                <a:spcPct val="113999"/>
              </a:lnSpc>
            </a:pPr>
            <a:r>
              <a:rPr lang="en-US" sz="1600">
                <a:solidFill>
                  <a:srgbClr val="000000"/>
                </a:solidFill>
                <a:ea typeface="Source Sans Pro"/>
              </a:rPr>
              <a:t>Ridge regression</a:t>
            </a:r>
            <a:endParaRPr lang="en-US" sz="1600">
              <a:ea typeface="Source Sans Pro"/>
            </a:endParaRPr>
          </a:p>
          <a:p>
            <a:pPr lvl="1">
              <a:lnSpc>
                <a:spcPct val="113999"/>
              </a:lnSpc>
            </a:pPr>
            <a:r>
              <a:rPr lang="en-US" sz="1600">
                <a:solidFill>
                  <a:srgbClr val="000000"/>
                </a:solidFill>
                <a:ea typeface="Source Sans Pro"/>
              </a:rPr>
              <a:t>Random forest </a:t>
            </a:r>
            <a:endParaRPr lang="en-US" sz="1600">
              <a:ea typeface="Source Sans Pro"/>
            </a:endParaRPr>
          </a:p>
          <a:p>
            <a:pPr lvl="1">
              <a:lnSpc>
                <a:spcPct val="113999"/>
              </a:lnSpc>
            </a:pPr>
            <a:r>
              <a:rPr lang="en-US" sz="1600">
                <a:solidFill>
                  <a:srgbClr val="000000"/>
                </a:solidFill>
                <a:ea typeface="Source Sans Pro"/>
              </a:rPr>
              <a:t>XG boost</a:t>
            </a:r>
            <a:endParaRPr lang="en-US" sz="1600"/>
          </a:p>
          <a:p>
            <a:pPr>
              <a:lnSpc>
                <a:spcPct val="113999"/>
              </a:lnSpc>
            </a:pPr>
            <a:r>
              <a:rPr lang="en-US" sz="2000">
                <a:ea typeface="Source Sans Pro"/>
              </a:rPr>
              <a:t>Linear Regression</a:t>
            </a:r>
          </a:p>
          <a:p>
            <a:pPr lvl="1">
              <a:lnSpc>
                <a:spcPct val="113999"/>
              </a:lnSpc>
            </a:pPr>
            <a:r>
              <a:rPr lang="en-US" sz="1600">
                <a:ea typeface="+mn-lt"/>
                <a:cs typeface="+mn-lt"/>
              </a:rPr>
              <a:t>Works Well for Continuous Target Variables</a:t>
            </a:r>
          </a:p>
          <a:p>
            <a:pPr lvl="1">
              <a:lnSpc>
                <a:spcPct val="113999"/>
              </a:lnSpc>
            </a:pPr>
            <a:r>
              <a:rPr lang="en-US" sz="1600">
                <a:ea typeface="+mn-lt"/>
                <a:cs typeface="+mn-lt"/>
              </a:rPr>
              <a:t>It provides a straightforward equation that explains how each features that affects house prices</a:t>
            </a:r>
          </a:p>
          <a:p>
            <a:pPr lvl="1">
              <a:lnSpc>
                <a:spcPct val="113999"/>
              </a:lnSpc>
            </a:pPr>
            <a:r>
              <a:rPr lang="en-US" sz="1600">
                <a:ea typeface="+mn-lt"/>
                <a:cs typeface="+mn-lt"/>
              </a:rPr>
              <a:t>It trains the model quickly and does not require high computational power and works great for large datasets.</a:t>
            </a:r>
          </a:p>
          <a:p>
            <a:pPr lvl="1">
              <a:lnSpc>
                <a:spcPct val="113999"/>
              </a:lnSpc>
            </a:pPr>
            <a:r>
              <a:rPr lang="en-US" sz="1600">
                <a:ea typeface="+mn-lt"/>
                <a:cs typeface="+mn-lt"/>
              </a:rPr>
              <a:t>The model assigns coefficients to each predictor, that helps to identify the most influential factors in determining prices</a:t>
            </a:r>
            <a:endParaRPr lang="en-US" sz="1600"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88D71DD-9347-A9D5-0249-32BA33F8B54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>
              <a:lnSpc>
                <a:spcPct val="113999"/>
              </a:lnSpc>
            </a:pPr>
            <a:r>
              <a:rPr lang="en-US" sz="2000" b="1">
                <a:ea typeface="Source Sans Pro"/>
              </a:rPr>
              <a:t>Model selection and intension </a:t>
            </a:r>
          </a:p>
        </p:txBody>
      </p:sp>
    </p:spTree>
    <p:extLst>
      <p:ext uri="{BB962C8B-B14F-4D97-AF65-F5344CB8AC3E}">
        <p14:creationId xmlns:p14="http://schemas.microsoft.com/office/powerpoint/2010/main" val="2101471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538A-2BB9-9E01-8459-3C5C7D1F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Source Sans Pro"/>
              </a:rPr>
              <a:t>Housing Price Prediction</a:t>
            </a:r>
            <a:endParaRPr lang="en-US" sz="2800" b="0">
              <a:ea typeface="Source Sans Pro"/>
            </a:endParaRPr>
          </a:p>
          <a:p>
            <a:endParaRPr lang="en-US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370F2-DB80-5364-5244-4388AE8D8A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>
              <a:lnSpc>
                <a:spcPct val="113999"/>
              </a:lnSpc>
            </a:pPr>
            <a:r>
              <a:rPr lang="en-US" sz="2000">
                <a:ea typeface="Source Sans Pro"/>
              </a:rPr>
              <a:t>Lasso</a:t>
            </a:r>
          </a:p>
          <a:p>
            <a:pPr lvl="1">
              <a:lnSpc>
                <a:spcPct val="113999"/>
              </a:lnSpc>
            </a:pPr>
            <a:r>
              <a:rPr lang="en-US" sz="1600">
                <a:ea typeface="+mn-lt"/>
                <a:cs typeface="+mn-lt"/>
              </a:rPr>
              <a:t>It automatically selected the feature by  removing irrelevant or redundant features by setting their coefficients to zero.</a:t>
            </a:r>
            <a:endParaRPr lang="en-US" sz="1600">
              <a:ea typeface="Source Sans Pro"/>
            </a:endParaRPr>
          </a:p>
          <a:p>
            <a:pPr lvl="1">
              <a:lnSpc>
                <a:spcPct val="113999"/>
              </a:lnSpc>
            </a:pPr>
            <a:r>
              <a:rPr lang="en-US" sz="1600">
                <a:ea typeface="+mn-lt"/>
                <a:cs typeface="+mn-lt"/>
              </a:rPr>
              <a:t>It keens only most relevant fearure if there are feature (in our case we have just 7 feature)</a:t>
            </a:r>
            <a:endParaRPr lang="en-US" sz="1600">
              <a:ea typeface="Source Sans Pro"/>
            </a:endParaRPr>
          </a:p>
          <a:p>
            <a:pPr lvl="1">
              <a:lnSpc>
                <a:spcPct val="113999"/>
              </a:lnSpc>
            </a:pPr>
            <a:r>
              <a:rPr lang="en-US" sz="1600">
                <a:ea typeface="+mn-lt"/>
                <a:cs typeface="+mn-lt"/>
              </a:rPr>
              <a:t>Even after eliminating some features, it results in a simpler model, making it easier to explain</a:t>
            </a:r>
            <a:endParaRPr lang="en-US" sz="1600">
              <a:ea typeface="Source Sans Pro"/>
            </a:endParaRPr>
          </a:p>
          <a:p>
            <a:pPr lvl="1">
              <a:lnSpc>
                <a:spcPct val="113999"/>
              </a:lnSpc>
            </a:pPr>
            <a:r>
              <a:rPr lang="en-US" sz="1600">
                <a:ea typeface="Source Sans Pro"/>
              </a:rPr>
              <a:t>It </a:t>
            </a:r>
            <a:r>
              <a:rPr lang="en-US" sz="1600">
                <a:ea typeface="+mn-lt"/>
                <a:cs typeface="+mn-lt"/>
              </a:rPr>
              <a:t>works well when Some Features have no impact </a:t>
            </a:r>
            <a:endParaRPr lang="en-US" sz="1600">
              <a:ea typeface="Source Sans Pro"/>
            </a:endParaRPr>
          </a:p>
          <a:p>
            <a:pPr>
              <a:lnSpc>
                <a:spcPct val="113999"/>
              </a:lnSpc>
            </a:pPr>
            <a:r>
              <a:rPr lang="en-US" sz="2000">
                <a:ea typeface="Source Sans Pro"/>
              </a:rPr>
              <a:t>Ridge </a:t>
            </a:r>
          </a:p>
          <a:p>
            <a:pPr lvl="1">
              <a:lnSpc>
                <a:spcPct val="113999"/>
              </a:lnSpc>
            </a:pPr>
            <a:r>
              <a:rPr lang="en-US" sz="1600">
                <a:ea typeface="+mn-lt"/>
                <a:cs typeface="+mn-lt"/>
              </a:rPr>
              <a:t>Handles multicollinearity effectively by reducing the effect of highly correlated features</a:t>
            </a:r>
            <a:endParaRPr lang="en-US" sz="1600">
              <a:latin typeface="Source Sans Pro"/>
              <a:ea typeface="Source Sans Pro"/>
            </a:endParaRPr>
          </a:p>
          <a:p>
            <a:pPr lvl="1">
              <a:lnSpc>
                <a:spcPct val="113999"/>
              </a:lnSpc>
            </a:pPr>
            <a:r>
              <a:rPr lang="en-US" sz="1600">
                <a:ea typeface="+mn-lt"/>
                <a:cs typeface="+mn-lt"/>
              </a:rPr>
              <a:t>Ridge shrinks feature coefficients instead of removing them completely and prevnets overfitting without eleminating features</a:t>
            </a:r>
            <a:endParaRPr lang="en-US" sz="1600">
              <a:ea typeface="Source Sans Pro"/>
            </a:endParaRPr>
          </a:p>
          <a:p>
            <a:pPr lvl="1">
              <a:lnSpc>
                <a:spcPct val="113999"/>
              </a:lnSpc>
            </a:pPr>
            <a:r>
              <a:rPr lang="en-US" sz="1600">
                <a:ea typeface="+mn-lt"/>
                <a:cs typeface="+mn-lt"/>
              </a:rPr>
              <a:t>Works well when data has noise or small variations, providing consistent predictions and improves model stability</a:t>
            </a:r>
            <a:endParaRPr lang="en-US" sz="1600">
              <a:ea typeface="Source Sans Pro"/>
            </a:endParaRPr>
          </a:p>
          <a:p>
            <a:pPr lvl="1">
              <a:lnSpc>
                <a:spcPct val="113999"/>
              </a:lnSpc>
            </a:pPr>
            <a:r>
              <a:rPr lang="en-US" sz="1600">
                <a:ea typeface="+mn-lt"/>
                <a:cs typeface="+mn-lt"/>
              </a:rPr>
              <a:t>Performs better than Linear Regression when the dataset contains thousands to millions of records.</a:t>
            </a:r>
            <a:endParaRPr lang="en-US" sz="1600">
              <a:ea typeface="Source Sans Pro"/>
            </a:endParaRPr>
          </a:p>
          <a:p>
            <a:pPr>
              <a:lnSpc>
                <a:spcPct val="113999"/>
              </a:lnSpc>
            </a:pPr>
            <a:endParaRPr lang="en-US" sz="2000">
              <a:ea typeface="Source Sans Pro"/>
            </a:endParaRPr>
          </a:p>
          <a:p>
            <a:pPr>
              <a:lnSpc>
                <a:spcPct val="113999"/>
              </a:lnSpc>
            </a:pPr>
            <a:endParaRPr lang="en-US"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599981F-19DF-28E0-C0D2-4F907A05168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>
              <a:lnSpc>
                <a:spcPct val="113999"/>
              </a:lnSpc>
            </a:pPr>
            <a:r>
              <a:rPr lang="en-US" sz="2000" b="1">
                <a:ea typeface="Source Sans Pro"/>
              </a:rPr>
              <a:t>Model selection and intension </a:t>
            </a:r>
            <a:endParaRPr lang="en-US" sz="2000">
              <a:solidFill>
                <a:srgbClr val="000000"/>
              </a:solidFill>
              <a:ea typeface="Source Sans Pro"/>
            </a:endParaRPr>
          </a:p>
          <a:p>
            <a:pPr>
              <a:lnSpc>
                <a:spcPct val="113999"/>
              </a:lnSpc>
            </a:pPr>
            <a:endParaRPr lang="en-US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231341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1CAB-08BF-B312-8735-92E7F41A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Source Sans Pro"/>
              </a:rPr>
              <a:t>Housing Price Prediction</a:t>
            </a:r>
            <a:endParaRPr lang="en-US" sz="2800" b="0">
              <a:ea typeface="Source Sans Pro"/>
            </a:endParaRPr>
          </a:p>
          <a:p>
            <a:endParaRPr lang="en-US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E96EC-B0CF-A289-DD6F-7A35E2BED2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>
              <a:lnSpc>
                <a:spcPct val="113999"/>
              </a:lnSpc>
            </a:pPr>
            <a:r>
              <a:rPr lang="en-US" sz="2000">
                <a:ea typeface="Source Sans Pro"/>
              </a:rPr>
              <a:t>Randomforest</a:t>
            </a:r>
            <a:endParaRPr lang="en-US">
              <a:ea typeface="Source Sans Pro"/>
            </a:endParaRPr>
          </a:p>
          <a:p>
            <a:pPr lvl="1">
              <a:lnSpc>
                <a:spcPct val="113999"/>
              </a:lnSpc>
            </a:pPr>
            <a:r>
              <a:rPr lang="en-US" sz="1600">
                <a:ea typeface="Source Sans Pro"/>
              </a:rPr>
              <a:t>Handles non-linearity and complex patterns</a:t>
            </a:r>
          </a:p>
          <a:p>
            <a:pPr lvl="1">
              <a:lnSpc>
                <a:spcPct val="113999"/>
              </a:lnSpc>
            </a:pPr>
            <a:r>
              <a:rPr lang="en-US" sz="1600">
                <a:ea typeface="Source Sans Pro"/>
              </a:rPr>
              <a:t>Reduces overfitting via ensemble learning</a:t>
            </a:r>
          </a:p>
          <a:p>
            <a:pPr lvl="1">
              <a:lnSpc>
                <a:spcPct val="113999"/>
              </a:lnSpc>
            </a:pPr>
            <a:r>
              <a:rPr lang="en-US" sz="1600">
                <a:ea typeface="Source Sans Pro"/>
              </a:rPr>
              <a:t>Works well with numerical and categorical data</a:t>
            </a:r>
          </a:p>
          <a:p>
            <a:pPr>
              <a:lnSpc>
                <a:spcPct val="113999"/>
              </a:lnSpc>
            </a:pPr>
            <a:r>
              <a:rPr lang="en-US" sz="2000">
                <a:ea typeface="Source Sans Pro"/>
              </a:rPr>
              <a:t>XGBoost</a:t>
            </a:r>
            <a:endParaRPr lang="en-US" sz="1600">
              <a:ea typeface="Source Sans Pro"/>
            </a:endParaRPr>
          </a:p>
          <a:p>
            <a:pPr lvl="1">
              <a:lnSpc>
                <a:spcPct val="113999"/>
              </a:lnSpc>
            </a:pPr>
            <a:r>
              <a:rPr lang="en-US" sz="1600">
                <a:ea typeface="Source Sans Pro"/>
              </a:rPr>
              <a:t>Compared to linear models, gradient boosting is more adept at handling complex interactions.</a:t>
            </a:r>
          </a:p>
          <a:p>
            <a:pPr lvl="1">
              <a:lnSpc>
                <a:spcPct val="113999"/>
              </a:lnSpc>
            </a:pPr>
            <a:r>
              <a:rPr lang="en-US" sz="1600">
                <a:ea typeface="Source Sans Pro"/>
              </a:rPr>
              <a:t>Complex interactions are better handled by gradient boosting than by linear models</a:t>
            </a:r>
          </a:p>
          <a:p>
            <a:pPr lvl="1">
              <a:lnSpc>
                <a:spcPct val="113999"/>
              </a:lnSpc>
            </a:pPr>
            <a:r>
              <a:rPr lang="en-US" sz="1600">
                <a:ea typeface="+mn-lt"/>
                <a:cs typeface="+mn-lt"/>
              </a:rPr>
              <a:t>Can handle millions of records efficiently, making it ideal for real estate markets with large amounts of historical data</a:t>
            </a:r>
          </a:p>
          <a:p>
            <a:pPr lvl="1">
              <a:lnSpc>
                <a:spcPct val="113999"/>
              </a:lnSpc>
            </a:pPr>
            <a:r>
              <a:rPr lang="en-US" sz="1600">
                <a:ea typeface="+mn-lt"/>
                <a:cs typeface="+mn-lt"/>
              </a:rPr>
              <a:t>Provides feature importance scores, helping you understand which factors influence house prices the most.</a:t>
            </a:r>
            <a:endParaRPr lang="en-US" sz="1600"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BB4CFA6-8AC1-343C-8F30-D007D2F7AEF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>
              <a:lnSpc>
                <a:spcPct val="113999"/>
              </a:lnSpc>
            </a:pPr>
            <a:r>
              <a:rPr lang="en-US" sz="2000" b="1">
                <a:ea typeface="Source Sans Pro"/>
              </a:rPr>
              <a:t>Model selection and intension </a:t>
            </a:r>
            <a:endParaRPr lang="en-US" sz="2000">
              <a:solidFill>
                <a:srgbClr val="000000"/>
              </a:solidFill>
              <a:ea typeface="Source Sans Pro"/>
            </a:endParaRPr>
          </a:p>
          <a:p>
            <a:pPr>
              <a:lnSpc>
                <a:spcPct val="113999"/>
              </a:lnSpc>
            </a:pPr>
            <a:endParaRPr lang="en-US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4080185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12669-B297-1AC1-7106-9B2C2D6F6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AE093-1CB8-193F-29BE-394CC4CD7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+mn-lt"/>
                <a:cs typeface="+mn-lt"/>
              </a:rPr>
              <a:t>Housing Price Prediction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BB0CA6-B512-C9FD-9146-0226478F4C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65285" y="2058138"/>
            <a:ext cx="2863018" cy="4267312"/>
          </a:xfr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6918F2D9-B010-7532-B7AA-B79450EA65E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sz="2000" b="1"/>
              <a:t>Multiple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b="1"/>
              <a:t>Linear Regression Results (MAE,MSE,RMSE,R square)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91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B68DA-8498-F756-5E8C-B83C2B050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F2EFC-B887-28F7-7714-20E53B8F5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+mn-lt"/>
                <a:cs typeface="+mn-lt"/>
              </a:rPr>
              <a:t>Housing Price Prediction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BE01A2-FB8B-D722-074F-ED68CAFB15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45673" y="1979215"/>
            <a:ext cx="4229737" cy="3614462"/>
          </a:xfr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61C1DE24-AA67-AE30-ACD7-428F2E4EBFFD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sz="2000" b="1"/>
              <a:t>Multiple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b="1"/>
              <a:t>Linear Regression Results (plots)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947699-E5BE-AB07-98E9-81E37E4EB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804" y="2027117"/>
            <a:ext cx="4141572" cy="361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337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0BD4D-E347-938C-4C5C-F07DF9037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19B1A-A783-A55A-6935-FEF29D98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+mn-lt"/>
                <a:cs typeface="+mn-lt"/>
              </a:rPr>
              <a:t>Housing Price Prediction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C15DDB1-7E44-D458-8AEB-3BA6C115AB4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sz="2000" b="1"/>
              <a:t>Multiple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b="1"/>
              <a:t>Linear Regression Results (plots)</a:t>
            </a:r>
          </a:p>
        </p:txBody>
      </p:sp>
      <p:pic>
        <p:nvPicPr>
          <p:cNvPr id="12" name="Content Placeholder 14">
            <a:extLst>
              <a:ext uri="{FF2B5EF4-FFF2-40B4-BE49-F238E27FC236}">
                <a16:creationId xmlns:a16="http://schemas.microsoft.com/office/drawing/2014/main" id="{740950D8-EF2E-6965-C740-8E261CFF17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17189" y="1954721"/>
            <a:ext cx="4178656" cy="3683753"/>
          </a:xfrm>
          <a:prstGeom prst="rect">
            <a:avLst/>
          </a:prstGeom>
        </p:spPr>
      </p:pic>
      <p:pic>
        <p:nvPicPr>
          <p:cNvPr id="3" name="Picture 2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640CD5E4-73A7-982F-D816-90F61F1FF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400" y="1953326"/>
            <a:ext cx="4764642" cy="368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03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C906-58DB-6C1B-E62B-B25F3FA9B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2320A-732B-6E96-84C5-777A3A250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+mn-lt"/>
                <a:cs typeface="+mn-lt"/>
              </a:rPr>
              <a:t>Housing Price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A1A64-1134-79CF-16DE-BF74F1EBC1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>
              <a:lnSpc>
                <a:spcPct val="113999"/>
              </a:lnSpc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Some properties have extremely high or low bedroom/bathroom counts (e.g., 30 bedrooms or 0 bathrooms), which may distort model predictions.</a:t>
            </a:r>
          </a:p>
          <a:p>
            <a:pPr lvl="1">
              <a:lnSpc>
                <a:spcPct val="113999"/>
              </a:lnSpc>
            </a:pPr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Solution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: Use outlier detection techniques (IQR, Z-score, or Isolation Forest) to filter unrealistic values and drop the the data for the bedroom size more than 10 </a:t>
            </a:r>
          </a:p>
          <a:p>
            <a:pPr lvl="1">
              <a:lnSpc>
                <a:spcPct val="113999"/>
              </a:lnSpc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Apply log transformation for highly skewed variables like lot size to reduce impact</a:t>
            </a:r>
          </a:p>
          <a:p>
            <a:pPr>
              <a:lnSpc>
                <a:spcPct val="113999"/>
              </a:lnSpc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Lot size (0-15000 acres) has a much larger scale than bedroom/bathroom count (0-30), leading to unequal weightage in ML models.</a:t>
            </a:r>
            <a:endParaRPr lang="en-US" sz="2000">
              <a:solidFill>
                <a:srgbClr val="3F3F3F"/>
              </a:solidFill>
              <a:ea typeface="+mn-lt"/>
              <a:cs typeface="+mn-lt"/>
            </a:endParaRPr>
          </a:p>
          <a:p>
            <a:pPr lvl="1">
              <a:lnSpc>
                <a:spcPct val="113999"/>
              </a:lnSpc>
            </a:pPr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Solution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:Use feature scaling (MinMax scalar ) to bring all numerical features to a comparable range.</a:t>
            </a:r>
          </a:p>
          <a:p>
            <a:pPr>
              <a:lnSpc>
                <a:spcPct val="113999"/>
              </a:lnSpc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Lot size may not have a linear relationship with price (e.g., a 15,000-acre land might not be priced proportionally to a 5,000-acre land).</a:t>
            </a:r>
          </a:p>
          <a:p>
            <a:pPr lvl="1">
              <a:lnSpc>
                <a:spcPct val="113999"/>
              </a:lnSpc>
            </a:pPr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Solution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: Compare Linear Regression vs. XGBoost to check which model handles these variations better( that will perform when we start our XGBoost model)</a:t>
            </a:r>
          </a:p>
          <a:p>
            <a:pPr>
              <a:lnSpc>
                <a:spcPct val="113999"/>
              </a:lnSpc>
            </a:pP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lnSpc>
                <a:spcPct val="113999"/>
              </a:lnSpc>
            </a:pP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B683BC3-0F97-C853-4889-D4E6FD6C1CF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>
              <a:lnSpc>
                <a:spcPct val="113999"/>
              </a:lnSpc>
            </a:pPr>
            <a:r>
              <a:rPr lang="en-US" sz="2000" b="1"/>
              <a:t>Challenges faced and solutions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97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737F-3498-8E71-E46E-6F266D93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Source Sans Pro"/>
              </a:rPr>
              <a:t>Housing Price Prediction</a:t>
            </a:r>
            <a:endParaRPr lang="en-US" sz="2800" b="0">
              <a:ea typeface="Source Sans Pro"/>
            </a:endParaRPr>
          </a:p>
          <a:p>
            <a:endParaRPr lang="en-US">
              <a:ea typeface="Source Sans Pr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12990-F0D7-526F-6BFF-F93D58EB12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>
              <a:lnSpc>
                <a:spcPct val="113999"/>
              </a:lnSpc>
            </a:pPr>
            <a:r>
              <a:rPr lang="en-US" sz="2000">
                <a:solidFill>
                  <a:srgbClr val="000000"/>
                </a:solidFill>
                <a:ea typeface="Source Sans Pro"/>
              </a:rPr>
              <a:t>Some listings have 0 bedrooms or bathrooms, which may indicate missing values or misentries rather than actual studio apartments.</a:t>
            </a:r>
            <a:endParaRPr lang="en-US" sz="2000">
              <a:ea typeface="Source Sans Pro"/>
            </a:endParaRPr>
          </a:p>
          <a:p>
            <a:pPr lvl="1">
              <a:lnSpc>
                <a:spcPct val="113999"/>
              </a:lnSpc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Solution: we are considering those recors as missing value and dropped it.</a:t>
            </a:r>
            <a:endParaRPr lang="en-US"/>
          </a:p>
          <a:p>
            <a:pPr>
              <a:lnSpc>
                <a:spcPct val="113999"/>
              </a:lnSpc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Standard regression models was giving excessive weight to extreme high-bedroom or high-acreage value</a:t>
            </a:r>
          </a:p>
          <a:p>
            <a:pPr>
              <a:lnSpc>
                <a:spcPct val="113999"/>
              </a:lnSpc>
            </a:pPr>
            <a:r>
              <a:rPr lang="en-US" sz="1600">
                <a:solidFill>
                  <a:srgbClr val="000000"/>
                </a:solidFill>
                <a:ea typeface="Source Sans Pro"/>
              </a:rPr>
              <a:t>Solution: we are simple dropped those records.</a:t>
            </a:r>
            <a:endParaRPr lang="en-US" sz="2000">
              <a:solidFill>
                <a:srgbClr val="000000"/>
              </a:solidFill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DF17FBB-F4D7-C1AE-F607-F0A117D2D92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>
              <a:lnSpc>
                <a:spcPct val="113999"/>
              </a:lnSpc>
            </a:pPr>
            <a:r>
              <a:rPr lang="en-US" sz="2000" b="1">
                <a:ea typeface="Source Sans Pro"/>
              </a:rPr>
              <a:t>Challenges faced and solutions</a:t>
            </a:r>
            <a:endParaRPr lang="en-US" sz="2000">
              <a:solidFill>
                <a:srgbClr val="000000"/>
              </a:solidFill>
              <a:ea typeface="Source Sans Pro"/>
            </a:endParaRPr>
          </a:p>
          <a:p>
            <a:pPr>
              <a:lnSpc>
                <a:spcPct val="113999"/>
              </a:lnSpc>
            </a:pPr>
            <a:endParaRPr lang="en-US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658802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79D68-D32D-3B1C-9E34-240150ED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CE84F-1456-1A7F-525C-36AE6E1DD8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>
              <a:lnSpc>
                <a:spcPct val="113999"/>
              </a:lnSpc>
            </a:pPr>
            <a:r>
              <a:rPr lang="en-US">
                <a:ea typeface="+mn-lt"/>
                <a:cs typeface="+mn-lt"/>
              </a:rPr>
              <a:t>Implement  XGBoost to improve model performance.</a:t>
            </a:r>
          </a:p>
          <a:p>
            <a:pPr>
              <a:lnSpc>
                <a:spcPct val="113999"/>
              </a:lnSpc>
            </a:pPr>
            <a:r>
              <a:rPr lang="en-US">
                <a:ea typeface="+mn-lt"/>
                <a:cs typeface="+mn-lt"/>
              </a:rPr>
              <a:t>Perform K-Fold Cross-Validation for more robust evaluation.</a:t>
            </a:r>
            <a:endParaRPr lang="en-US">
              <a:ea typeface="Source Sans Pro"/>
            </a:endParaRPr>
          </a:p>
          <a:p>
            <a:pPr>
              <a:lnSpc>
                <a:spcPct val="113999"/>
              </a:lnSpc>
            </a:pPr>
            <a:r>
              <a:rPr lang="en-US">
                <a:ea typeface="+mn-lt"/>
                <a:cs typeface="+mn-lt"/>
              </a:rPr>
              <a:t>Build a Dashboard Visualization Tool to present insights interactively.</a:t>
            </a:r>
          </a:p>
          <a:p>
            <a:pPr>
              <a:lnSpc>
                <a:spcPct val="113999"/>
              </a:lnSpc>
            </a:pPr>
            <a:r>
              <a:rPr lang="en-US">
                <a:ea typeface="+mn-lt"/>
                <a:cs typeface="+mn-lt"/>
              </a:rPr>
              <a:t>Conduct further Feature Engineering to extract more meaningful data patterns.</a:t>
            </a:r>
          </a:p>
          <a:p>
            <a:pPr>
              <a:lnSpc>
                <a:spcPct val="113999"/>
              </a:lnSpc>
            </a:pPr>
            <a:endParaRPr lang="en-US">
              <a:ea typeface="Source Sans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E0D7426-0968-A998-A09F-C8064812F56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sz="2000" b="1">
                <a:ea typeface="Source Sans Pro"/>
              </a:rPr>
              <a:t>Blueprint for our final phase</a:t>
            </a:r>
          </a:p>
        </p:txBody>
      </p:sp>
    </p:spTree>
    <p:extLst>
      <p:ext uri="{BB962C8B-B14F-4D97-AF65-F5344CB8AC3E}">
        <p14:creationId xmlns:p14="http://schemas.microsoft.com/office/powerpoint/2010/main" val="40494866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IllinoisTech">
      <a:dk1>
        <a:srgbClr val="3F3F3F"/>
      </a:dk1>
      <a:lt1>
        <a:srgbClr val="FFFFFF"/>
      </a:lt1>
      <a:dk2>
        <a:srgbClr val="FFFFFF"/>
      </a:dk2>
      <a:lt2>
        <a:srgbClr val="3F3F3F"/>
      </a:lt2>
      <a:accent1>
        <a:srgbClr val="D6172F"/>
      </a:accent1>
      <a:accent2>
        <a:srgbClr val="76777B"/>
      </a:accent2>
      <a:accent3>
        <a:srgbClr val="FF9900"/>
      </a:accent3>
      <a:accent4>
        <a:srgbClr val="3F3F3F"/>
      </a:accent4>
      <a:accent5>
        <a:srgbClr val="000000"/>
      </a:accent5>
      <a:accent6>
        <a:srgbClr val="D6172F"/>
      </a:accent6>
      <a:hlink>
        <a:srgbClr val="D6172F"/>
      </a:hlink>
      <a:folHlink>
        <a:srgbClr val="D6172F"/>
      </a:folHlink>
    </a:clrScheme>
    <a:fontScheme name="Custom 3">
      <a:majorFont>
        <a:latin typeface="Roboto Slab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1_Office Theme</vt:lpstr>
      <vt:lpstr> Housing Price Prediction Team#10  </vt:lpstr>
      <vt:lpstr>Housing Price Prediction</vt:lpstr>
      <vt:lpstr>Housing Price Prediction</vt:lpstr>
      <vt:lpstr>Housing Price Prediction </vt:lpstr>
      <vt:lpstr>Housing Price Prediction </vt:lpstr>
      <vt:lpstr>Housing Price Prediction </vt:lpstr>
      <vt:lpstr>Housing Price Prediction </vt:lpstr>
      <vt:lpstr>Housing Price Prediction </vt:lpstr>
      <vt:lpstr>Housing Price Prediction</vt:lpstr>
      <vt:lpstr>Housing Price Prediction</vt:lpstr>
      <vt:lpstr>Housing Price Prediction</vt:lpstr>
      <vt:lpstr>Housing Price Prediction </vt:lpstr>
      <vt:lpstr>Housing Price Prediction </vt:lpstr>
      <vt:lpstr>Housing Price Prediction </vt:lpstr>
      <vt:lpstr>Housing Price Prediction</vt:lpstr>
      <vt:lpstr>Housing Price Prediction</vt:lpstr>
      <vt:lpstr>Housing Price Prediction</vt:lpstr>
      <vt:lpstr>Housing Price Prediction</vt:lpstr>
      <vt:lpstr>Housing Price Prediction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Mohemmad Asif Azhar</dc:creator>
  <cp:revision>1</cp:revision>
  <dcterms:created xsi:type="dcterms:W3CDTF">2025-02-06T04:18:24Z</dcterms:created>
  <dcterms:modified xsi:type="dcterms:W3CDTF">2025-03-15T23:19:29Z</dcterms:modified>
</cp:coreProperties>
</file>